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4" r:id="rId11"/>
    <p:sldId id="265" r:id="rId12"/>
    <p:sldId id="274" r:id="rId13"/>
    <p:sldId id="278" r:id="rId40"/>
    <p:sldId id="275" r:id="rId14"/>
    <p:sldId id="279" r:id="rId41"/>
    <p:sldId id="269" r:id="rId15"/>
    <p:sldId id="280" r:id="rId42"/>
    <p:sldId id="273" r:id="rId16"/>
    <p:sldId id="276" r:id="rId17"/>
    <p:sldId id="277" r:id="rId18"/>
    <p:sldId id="281" r:id="rId43"/>
    <p:sldId id="266" r:id="rId19"/>
    <p:sldId id="282" r:id="rId44"/>
    <p:sldId id="283" r:id="rId45"/>
    <p:sldId id="267" r:id="rId20"/>
  </p:sldIdLst>
  <p:sldSz cx="9144000" cy="6858000" type="screen4x3"/>
  <p:notesSz cx="6858000" cy="9144000"/>
  <p:embeddedFontLst>
    <p:embeddedFont>
      <p:font typeface="Archivo Narrow" panose="020B0604020202020204" charset="0"/>
      <p:regular r:id="rId22"/>
      <p:bold r:id="rId23"/>
      <p:italic r:id="rId24"/>
      <p:boldItalic r:id="rId25"/>
    </p:embeddedFont>
    <p:embeddedFont>
      <p:font typeface="Book Antiqua" panose="02040602050305030304" pitchFamily="18" charset="0"/>
      <p:regular r:id="rId26"/>
      <p:bold r:id="rId27"/>
      <p:italic r:id="rId28"/>
      <p:boldItalic r:id="rId29"/>
    </p:embeddedFont>
    <p:embeddedFont>
      <p:font typeface="Georgia" panose="02040502050405020303" pitchFamily="18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gIwKK4+HMG5mavwZxXF0wYb1NN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406713E-8740-4FD4-8597-E078574AA9A1}">
  <a:tblStyle styleId="{E406713E-8740-4FD4-8597-E078574AA9A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4.xml"/><Relationship Id="rId15" Type="http://schemas.openxmlformats.org/officeDocument/2006/relationships/slide" Target="slides/slide16.xml"/><Relationship Id="rId16" Type="http://schemas.openxmlformats.org/officeDocument/2006/relationships/slide" Target="slides/slide18.xml"/><Relationship Id="rId17" Type="http://schemas.openxmlformats.org/officeDocument/2006/relationships/slide" Target="slides/slide19.xml"/><Relationship Id="rId18" Type="http://schemas.openxmlformats.org/officeDocument/2006/relationships/slide" Target="slides/slide20.xml"/><Relationship Id="rId19" Type="http://schemas.openxmlformats.org/officeDocument/2006/relationships/slide" Target="slides/slide22.xml"/><Relationship Id="rId20" Type="http://schemas.openxmlformats.org/officeDocument/2006/relationships/slide" Target="slides/slide25.xml"/><Relationship Id="rId21" Type="http://schemas.openxmlformats.org/officeDocument/2006/relationships/notesMaster" Target="notesMasters/notesMaster1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Relationship Id="rId26" Type="http://schemas.openxmlformats.org/officeDocument/2006/relationships/font" Target="fonts/font5.fntdata"/><Relationship Id="rId27" Type="http://schemas.openxmlformats.org/officeDocument/2006/relationships/font" Target="fonts/font6.fntdata"/><Relationship Id="rId28" Type="http://schemas.openxmlformats.org/officeDocument/2006/relationships/font" Target="fonts/font7.fntdata"/><Relationship Id="rId29" Type="http://schemas.openxmlformats.org/officeDocument/2006/relationships/font" Target="fonts/font8.fntdata"/><Relationship Id="rId30" Type="http://schemas.openxmlformats.org/officeDocument/2006/relationships/font" Target="fonts/font9.fntdata"/><Relationship Id="rId31" Type="http://schemas.openxmlformats.org/officeDocument/2006/relationships/font" Target="fonts/font10.fntdata"/><Relationship Id="rId32" Type="http://schemas.openxmlformats.org/officeDocument/2006/relationships/font" Target="fonts/font11.fntdata"/><Relationship Id="rId33" Type="http://schemas.openxmlformats.org/officeDocument/2006/relationships/font" Target="fonts/font12.fntdata"/><Relationship Id="rId35" Type="http://customschemas.google.com/relationships/presentationmetadata" Target="metadata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Relationship Id="rId40" Type="http://schemas.openxmlformats.org/officeDocument/2006/relationships/slide" Target="slides/slide13.xml"/><Relationship Id="rId41" Type="http://schemas.openxmlformats.org/officeDocument/2006/relationships/slide" Target="slides/slide15.xml"/><Relationship Id="rId42" Type="http://schemas.openxmlformats.org/officeDocument/2006/relationships/slide" Target="slides/slide17.xml"/><Relationship Id="rId43" Type="http://schemas.openxmlformats.org/officeDocument/2006/relationships/slide" Target="slides/slide21.xml"/><Relationship Id="rId44" Type="http://schemas.openxmlformats.org/officeDocument/2006/relationships/slide" Target="slides/slide23.xml"/><Relationship Id="rId45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567be67e6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567be67e6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567be67e6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567be67e6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567be67e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567be67e6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567be67e6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f567be67e6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ctrTitle"/>
          </p:nvPr>
        </p:nvSpPr>
        <p:spPr>
          <a:xfrm>
            <a:off x="311700" y="1886797"/>
            <a:ext cx="8520600" cy="18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" name="Google Shape;13;p10"/>
          <p:cNvSpPr/>
          <p:nvPr/>
        </p:nvSpPr>
        <p:spPr>
          <a:xfrm flipH="1">
            <a:off x="18" y="67300"/>
            <a:ext cx="9143982" cy="1420254"/>
          </a:xfrm>
          <a:prstGeom prst="flowChartDocument">
            <a:avLst/>
          </a:prstGeom>
          <a:noFill/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0"/>
          <p:cNvSpPr/>
          <p:nvPr/>
        </p:nvSpPr>
        <p:spPr>
          <a:xfrm flipH="1">
            <a:off x="18" y="0"/>
            <a:ext cx="9143982" cy="1420254"/>
          </a:xfrm>
          <a:prstGeom prst="flowChartDocument">
            <a:avLst/>
          </a:prstGeom>
          <a:solidFill>
            <a:srgbClr val="0B53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15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0546" y="342390"/>
            <a:ext cx="2463805" cy="779367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0"/>
          <p:cNvSpPr/>
          <p:nvPr/>
        </p:nvSpPr>
        <p:spPr>
          <a:xfrm>
            <a:off x="-11025" y="5919900"/>
            <a:ext cx="9155100" cy="938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0"/>
          <p:cNvSpPr txBox="1"/>
          <p:nvPr/>
        </p:nvSpPr>
        <p:spPr>
          <a:xfrm>
            <a:off x="25" y="5919900"/>
            <a:ext cx="35721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MISSION</a:t>
            </a:r>
            <a:endParaRPr sz="1400" b="1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 is a nurturing ground for an individual’s holistic development to make effective contribution to the society in a dynamic environment</a:t>
            </a:r>
            <a:endParaRPr sz="11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" name="Google Shape;18;p10"/>
          <p:cNvSpPr txBox="1"/>
          <p:nvPr/>
        </p:nvSpPr>
        <p:spPr>
          <a:xfrm>
            <a:off x="3709075" y="5919900"/>
            <a:ext cx="20307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VISION</a:t>
            </a:r>
            <a:endParaRPr sz="1400" b="1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1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" name="Google Shape;19;p10"/>
          <p:cNvSpPr txBox="1"/>
          <p:nvPr/>
        </p:nvSpPr>
        <p:spPr>
          <a:xfrm>
            <a:off x="6067875" y="5919900"/>
            <a:ext cx="29844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CORE  VALUES</a:t>
            </a:r>
            <a:endParaRPr sz="1400" b="1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Faith in God |  Moral Uprightness</a:t>
            </a:r>
            <a:b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Love of Fellow Beings   </a:t>
            </a:r>
            <a:b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Social Responsibility | Pursuit of Excellence</a:t>
            </a:r>
            <a:endParaRPr sz="11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" name="Google Shape;24;p11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1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" name="Google Shape;26;p11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1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2" name="Google Shape;32;p12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2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" name="Google Shape;34;p12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2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2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2" name="Google Shape;42;p13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3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" name="Google Shape;44;p13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3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3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0" name="Google Shape;50;p14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4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2" name="Google Shape;52;p14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4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4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5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" name="Google Shape;61;p15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5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16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6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9" name="Google Shape;69;p16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6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7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7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" name="Google Shape;80;p17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7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8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8" name="Google Shape;88;p18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8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>
            <a:spLocks noGrp="1"/>
          </p:cNvSpPr>
          <p:nvPr>
            <p:ph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5" name="Google Shape;95;p19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9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7" name="Google Shape;97;p19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9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2" name="Google Shape;102;p20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0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4" name="Google Shape;104;p20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0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0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chivo Narrow"/>
              <a:buChar char="●"/>
              <a:defRPr sz="22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jpeg"/><Relationship Id="rId4" Type="http://schemas.openxmlformats.org/officeDocument/2006/relationships/image" Target="../media/image5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3" Type="http://schemas.openxmlformats.org/officeDocument/2006/relationships/image" Target="../media/image6.jpeg"/><Relationship Id="rId4" Type="http://schemas.openxmlformats.org/officeDocument/2006/relationships/image" Target="../media/image7.jpeg"/><Relationship Id="rId5" Type="http://schemas.openxmlformats.org/officeDocument/2006/relationships/image" Target="../media/image8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"/>
          <p:cNvSpPr txBox="1">
            <a:spLocks noGrp="1"/>
          </p:cNvSpPr>
          <p:nvPr>
            <p:ph type="ctrTitle"/>
          </p:nvPr>
        </p:nvSpPr>
        <p:spPr>
          <a:xfrm>
            <a:off x="311688" y="1722952"/>
            <a:ext cx="8520600" cy="17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An Intelligent AI-Based System for Personalized Placement Preparation and Skill Gap Analysis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4571988" y="3863630"/>
            <a:ext cx="4004100" cy="2339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Details: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Times New Roman"/>
                <a:ea typeface="Times New Roman"/>
                <a:cs typeface="Times New Roman"/>
                <a:sym typeface="Times New Roman"/>
              </a:rPr>
              <a:t>1)Joyal </a:t>
            </a:r>
            <a:r>
              <a:rPr lang="en-GB" sz="1800" b="1" dirty="0" err="1">
                <a:latin typeface="Times New Roman"/>
                <a:ea typeface="Times New Roman"/>
                <a:cs typeface="Times New Roman"/>
                <a:sym typeface="Times New Roman"/>
              </a:rPr>
              <a:t>Binsu</a:t>
            </a:r>
            <a:r>
              <a:rPr lang="en-GB" sz="1800" b="1" dirty="0">
                <a:latin typeface="Times New Roman"/>
                <a:ea typeface="Times New Roman"/>
                <a:cs typeface="Times New Roman"/>
                <a:sym typeface="Times New Roman"/>
              </a:rPr>
              <a:t>(2362094)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Times New Roman"/>
                <a:ea typeface="Times New Roman"/>
                <a:cs typeface="Times New Roman"/>
                <a:sym typeface="Times New Roman"/>
              </a:rPr>
              <a:t>2)Aiswarya K V(2362019)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Times New Roman"/>
                <a:ea typeface="Times New Roman"/>
                <a:cs typeface="Times New Roman"/>
                <a:sym typeface="Times New Roman"/>
              </a:rPr>
              <a:t>3)Nihal Gireesh(2362120)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latin typeface="Times New Roman"/>
                <a:ea typeface="Times New Roman"/>
                <a:cs typeface="Times New Roman"/>
                <a:sym typeface="Times New Roman"/>
              </a:rPr>
              <a:t>4)</a:t>
            </a:r>
            <a:r>
              <a:rPr lang="en-GB" sz="1800" b="1" dirty="0" err="1">
                <a:latin typeface="Times New Roman"/>
                <a:ea typeface="Times New Roman"/>
                <a:cs typeface="Times New Roman"/>
                <a:sym typeface="Times New Roman"/>
              </a:rPr>
              <a:t>Pulikanti</a:t>
            </a:r>
            <a:r>
              <a:rPr lang="en-GB" sz="1800" b="1" dirty="0">
                <a:latin typeface="Times New Roman"/>
                <a:ea typeface="Times New Roman"/>
                <a:cs typeface="Times New Roman"/>
                <a:sym typeface="Times New Roman"/>
              </a:rPr>
              <a:t> Gowtham Roy(2362135)		</a:t>
            </a:r>
            <a:endParaRPr sz="1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By: </a:t>
            </a:r>
            <a:r>
              <a:rPr lang="en-IN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 Chaitra PC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Agenda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2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Char char="●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sz="1400"/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Char char="●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Problem Statement and Objectives</a:t>
            </a:r>
            <a:endParaRPr sz="1400"/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Char char="●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 sz="1400"/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Char char="●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Literature Review / Background Study</a:t>
            </a:r>
            <a:endParaRPr sz="1400"/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Char char="●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Hardware and Software Requirements</a:t>
            </a:r>
            <a:endParaRPr sz="1400"/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Char char="●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Key Technical Implementation</a:t>
            </a:r>
            <a:endParaRPr sz="1400"/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Char char="●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Practice Modes and Answer Evaluation</a:t>
            </a:r>
            <a:endParaRPr sz="1400"/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Char char="●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Flowchart</a:t>
            </a:r>
            <a:endParaRPr sz="1400"/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Char char="●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Security and Reliability</a:t>
            </a:r>
            <a:endParaRPr sz="1400"/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Char char="●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Module Implementation Status</a:t>
            </a:r>
            <a:endParaRPr sz="1400"/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Char char="●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Testing and Validation Results</a:t>
            </a:r>
            <a:endParaRPr sz="1400"/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Char char="●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Product Walkthrough (Screenshots)</a:t>
            </a:r>
            <a:endParaRPr sz="1400"/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Char char="●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Timeline</a:t>
            </a:r>
            <a:endParaRPr sz="1400"/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Char char="●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Key Risks and Next Steps</a:t>
            </a:r>
            <a:endParaRPr sz="1400"/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Char char="●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1400"/>
          </a:p>
          <a:p>
            <a:pPr marL="3429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Char char="●"/>
            </a:pPr>
            <a:r>
              <a:rPr lang="en-GB" sz="140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/>
          </a:p>
        </p:txBody>
      </p:sp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xfrm>
            <a:off x="155850" y="1356867"/>
            <a:ext cx="8762008" cy="475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Prepwise is an AI-driven web platform that prepares students for campus placements and technical interviews.</a:t>
            </a:r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Parses the student's resume (PDF / DOCX) into a structured profile of skills, education, projects and internships.</a:t>
            </a:r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three practice modes: resume-based Interview questions, topic-wise Technical questions and live DSA coding, generated by an LLM with a verified question bank as fallback.</a:t>
            </a:r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Scores every answer instantly using concept rubrics (synonyms, partial credit, meaning similarity) plus AI grading, and returns specific feedback with a model answer.</a:t>
            </a:r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topic-wise proficiency with a Bayesian, recency-weighted metric to reveal real skill gaps and recommend what to practise next.</a:t>
            </a:r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Security-audited and hardened: verified accounts, sandboxed code execution and protected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Problem Statement and Objectives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2E034A-E7F7-6D4E-F054-B080EAB1F8F7}"/>
              </a:ext>
            </a:extLst>
          </p:cNvPr>
          <p:cNvSpPr txBox="1"/>
          <p:nvPr/>
        </p:nvSpPr>
        <p:spPr>
          <a:xfrm>
            <a:off x="4652013" y="2057400"/>
            <a:ext cx="4591664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900"/>
              </a:spcAft>
              <a:buSzPct val="100000"/>
              <a:buChar char="▪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personalized candidate profile by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resumes, academic records, and project details.</a:t>
            </a:r>
          </a:p>
          <a:p>
            <a:pPr marL="171450" indent="-171450">
              <a:spcAft>
                <a:spcPts val="900"/>
              </a:spcAft>
              <a:buSzPct val="100000"/>
              <a:buChar char="▪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and evaluate adaptive technical interview questions while providing instant, constructive feedback.</a:t>
            </a:r>
          </a:p>
          <a:p>
            <a:pPr marL="171450" indent="-171450">
              <a:spcAft>
                <a:spcPts val="900"/>
              </a:spcAft>
              <a:buSzPct val="100000"/>
              <a:buChar char="▪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skill gaps through performance analysis and recommend targeted learning resources for improvement.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E3CBADF0-A5B5-9EE1-AE62-19BE930E7D73}"/>
              </a:ext>
            </a:extLst>
          </p:cNvPr>
          <p:cNvSpPr/>
          <p:nvPr/>
        </p:nvSpPr>
        <p:spPr>
          <a:xfrm>
            <a:off x="480059" y="1627278"/>
            <a:ext cx="4011930" cy="3360420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118E9303-CCCC-90F5-3D90-7A06E866DC3B}"/>
              </a:ext>
            </a:extLst>
          </p:cNvPr>
          <p:cNvSpPr/>
          <p:nvPr/>
        </p:nvSpPr>
        <p:spPr>
          <a:xfrm>
            <a:off x="574356" y="2223383"/>
            <a:ext cx="382333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Most existing placement-preparation tools offer generic question banks, resume checkers, or standard mock-interview simulators that do not account for a student's actual academic record, project experience, or current skill level. As a result, students often practice with material unrelated to their own profile, leading to unfocused preparation, no visibility into individual weak areas, and no personalized path for improvement.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2683FB99-8064-636E-0885-AA49C68C336E}"/>
              </a:ext>
            </a:extLst>
          </p:cNvPr>
          <p:cNvSpPr/>
          <p:nvPr/>
        </p:nvSpPr>
        <p:spPr>
          <a:xfrm>
            <a:off x="574357" y="17830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b="1" dirty="0">
                <a:solidFill>
                  <a:srgbClr val="1640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1275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6A2A8DB2-263D-02F4-9495-EE7F914F6197}"/>
              </a:ext>
            </a:extLst>
          </p:cNvPr>
          <p:cNvSpPr/>
          <p:nvPr/>
        </p:nvSpPr>
        <p:spPr>
          <a:xfrm>
            <a:off x="4772212" y="168869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b="1" dirty="0">
                <a:solidFill>
                  <a:srgbClr val="1640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/>
          </a:p>
        </p:txBody>
      </p:sp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xfrm>
            <a:off x="155850" y="1356867"/>
            <a:ext cx="8762008" cy="475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IN" sz="15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(PDF / DOCX) uploaded by the candidate; details reviewed and edited on a Verify Profile page</a:t>
            </a:r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IN" sz="15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Module 1 — Profile Parser: 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sandboxed text extraction (pdfplumber / python-docx) + rule-based NLP and skills taxonomy → structured candidate profile</a:t>
            </a:r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IN" sz="15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Module 2 — Question Generator: 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Groq LLM (Llama 3.3 70B) with output validation; fallback to a curated bank (74 technical, 12 behavioural, resume templates) → Interview &amp; Technical questions</a:t>
            </a:r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IN" sz="15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Module 3 — Evaluation Engine: 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rubric (synonyms, typo tolerance, partial credit) + TF-IDF meaning similarity + AI grader → score and feedback; DSA code judged in a Docker sandbox</a:t>
            </a:r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IN" sz="15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Module 4 — Analytics &amp; Recommender: 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Bayesian, recency-weighted proficiency per topic → weak areas and targeted practice links</a:t>
            </a:r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IN" sz="150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Module 5 — Dashboard: 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+ Jinja2 web UI ⇄ PostgreSQL (Supabase) with SQLite fallback; email-verified accounts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Literature Review / Background Study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6" name="Google Shape;136;p5"/>
          <p:cNvGraphicFramePr/>
          <p:nvPr>
            <p:extLst>
              <p:ext uri="{D42A27DB-BD31-4B8C-83A1-F6EECF244321}">
                <p14:modId xmlns:p14="http://schemas.microsoft.com/office/powerpoint/2010/main" val="3048685618"/>
              </p:ext>
            </p:extLst>
          </p:nvPr>
        </p:nvGraphicFramePr>
        <p:xfrm>
          <a:off x="311700" y="1265450"/>
          <a:ext cx="8520600" cy="4999183"/>
        </p:xfrm>
        <a:graphic>
          <a:graphicData uri="http://schemas.openxmlformats.org/drawingml/2006/table">
            <a:tbl>
              <a:tblPr>
                <a:noFill/>
                <a:tableStyleId>{E406713E-8740-4FD4-8597-E078574AA9A1}</a:tableStyleId>
              </a:tblPr>
              <a:tblGrid>
                <a:gridCol w="1704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4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4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4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4120">
                  <a:extLst>
                    <a:ext uri="{9D8B030D-6E8A-4147-A177-3AD203B41FA5}">
                      <a16:colId xmlns:a16="http://schemas.microsoft.com/office/drawing/2014/main" val="2582368380"/>
                    </a:ext>
                  </a:extLst>
                </a:gridCol>
              </a:tblGrid>
              <a:tr h="123910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Existing System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500" b="1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5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Research Gap / Limitations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5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How the Proposed System Addresses the Gap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Future Scope</a:t>
                      </a:r>
                      <a:endParaRPr sz="15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95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Research on the AI Evaluation and Matching System for Automatic Text Recognition, Feature Information Extraction and Resume Based on Artificial Intelligence (IEEE, 2024)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Uses OCR, NLP, and AI algorithms to extract resume information and match candidates with job requirements. 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Focuses only on resume screening and candidate-job matching. No interview preparation, coding evaluation, or personalized learning.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proposed system extends resume analysis by incorporating academic performance and project details to generate personalized interview questions, evaluate responses, and recommend learning paths. 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 adaptive interview preparation, coding assessment, and personalized learning recommendations.</a:t>
                      </a:r>
                      <a:endParaRPr sz="1200" b="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91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RAG-based Personal Placement Assistant System using Large Language Models for Customized Interview Preparation (IEEE, 2024)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Uses Retrieval-Augmented Generation (RAG), ChromaDB, embeddings, and Gemini LLM to analyze resumes and generate domain-specific interview questions.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Provides limited performance analytics and weak-area tracking. Focuses mainly on question generation.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Adds detailed answer evaluation, adaptive difficulty levels, weak-area identification, and personalized topic recommendations. 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 performance analytics, continuous skill-gap tracking, and adaptive question difficulty.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567be67e6_0_15"/>
          <p:cNvSpPr txBox="1">
            <a:spLocks noGrp="1"/>
          </p:cNvSpPr>
          <p:nvPr>
            <p:ph type="title"/>
          </p:nvPr>
        </p:nvSpPr>
        <p:spPr>
          <a:xfrm>
            <a:off x="446600" y="5795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Literature Review / Background Study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2" name="Google Shape;142;g3f567be67e6_0_15"/>
          <p:cNvGraphicFramePr/>
          <p:nvPr>
            <p:extLst>
              <p:ext uri="{D42A27DB-BD31-4B8C-83A1-F6EECF244321}">
                <p14:modId xmlns:p14="http://schemas.microsoft.com/office/powerpoint/2010/main" val="2620976892"/>
              </p:ext>
            </p:extLst>
          </p:nvPr>
        </p:nvGraphicFramePr>
        <p:xfrm>
          <a:off x="284480" y="1265450"/>
          <a:ext cx="8331202" cy="5022600"/>
        </p:xfrm>
        <a:graphic>
          <a:graphicData uri="http://schemas.openxmlformats.org/drawingml/2006/table">
            <a:tbl>
              <a:tblPr>
                <a:noFill/>
                <a:tableStyleId>{E406713E-8740-4FD4-8597-E078574AA9A1}</a:tableStyleId>
              </a:tblPr>
              <a:tblGrid>
                <a:gridCol w="1888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0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05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05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0594">
                  <a:extLst>
                    <a:ext uri="{9D8B030D-6E8A-4147-A177-3AD203B41FA5}">
                      <a16:colId xmlns:a16="http://schemas.microsoft.com/office/drawing/2014/main" val="48198275"/>
                    </a:ext>
                  </a:extLst>
                </a:gridCol>
              </a:tblGrid>
              <a:tr h="866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Existing System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Research Gap / Limitations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How the Proposed System Addresses the Gap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5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Future Scope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7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AI-Powered Interview Preparation System: Integrating Resume Analysis, HR Simulation, and Technical Skill Assessment (SSRN, 2025)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Combines resume analysis, NLP, speech recognition, CNN-based emotion detection, and mock HR interviews.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Primarily evaluates HR interview performance and communication skills. Limited technical coding assessment.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Includes technical programming interviews, code evaluation, and personalized improvement suggestions based on candidate performance.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Extend to real-time coding interviews, automated code evaluation, and personalized technical learning paths.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9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AI-Powered Resume Analyzer and Interview Preparation System (IJRASET, 2025) 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Integrates NLP, ML, and LLMs for resume parsing, skill extraction, job-role matching, and mock interviews.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Provides limited performance analytics and weak-area tracking. Focuses mainly on question generation.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Adds detailed answer evaluation, adaptive difficulty levels, weak-area identification, and personalized topic recommendations. 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Incorporate adaptive assessments, detailed performance analysis, and long-term progress tracking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567be67e6_0_34"/>
          <p:cNvSpPr txBox="1">
            <a:spLocks noGrp="1"/>
          </p:cNvSpPr>
          <p:nvPr>
            <p:ph type="title"/>
          </p:nvPr>
        </p:nvSpPr>
        <p:spPr>
          <a:xfrm>
            <a:off x="446600" y="5795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Literature Review / Background Study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8" name="Google Shape;148;g3f567be67e6_0_34"/>
          <p:cNvGraphicFramePr/>
          <p:nvPr>
            <p:extLst>
              <p:ext uri="{D42A27DB-BD31-4B8C-83A1-F6EECF244321}">
                <p14:modId xmlns:p14="http://schemas.microsoft.com/office/powerpoint/2010/main" val="2227945271"/>
              </p:ext>
            </p:extLst>
          </p:nvPr>
        </p:nvGraphicFramePr>
        <p:xfrm>
          <a:off x="223520" y="1265450"/>
          <a:ext cx="8743678" cy="4794000"/>
        </p:xfrm>
        <a:graphic>
          <a:graphicData uri="http://schemas.openxmlformats.org/drawingml/2006/table">
            <a:tbl>
              <a:tblPr>
                <a:noFill/>
                <a:tableStyleId>{E406713E-8740-4FD4-8597-E078574AA9A1}</a:tableStyleId>
              </a:tblPr>
              <a:tblGrid>
                <a:gridCol w="2022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0400">
                  <a:extLst>
                    <a:ext uri="{9D8B030D-6E8A-4147-A177-3AD203B41FA5}">
                      <a16:colId xmlns:a16="http://schemas.microsoft.com/office/drawing/2014/main" val="588855023"/>
                    </a:ext>
                  </a:extLst>
                </a:gridCol>
              </a:tblGrid>
              <a:tr h="866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Existing System</a:t>
                      </a:r>
                      <a:endParaRPr sz="150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Methodology</a:t>
                      </a:r>
                      <a:endParaRPr sz="150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Research Gap / Limitations</a:t>
                      </a:r>
                      <a:endParaRPr sz="150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How the Proposed System Addresses the Gap</a:t>
                      </a:r>
                      <a:endParaRPr sz="150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500" b="1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Future Scope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7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Artificial Intelligence in Career Counseling: A Test Case with ResumAI (arXiv, 2023) </a:t>
                      </a:r>
                      <a:endParaRPr sz="1200" b="1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Uses conversational AI to review resumes and provide career guidance through automated suggestions. 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Focuses on resume improvement rather than interview preparation or technical skill assessment. </a:t>
                      </a:r>
                      <a:endParaRPr sz="120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Extends beyond resume review by generating technical interview questions, evaluating answers, and identifying skill gaps </a:t>
                      </a:r>
                      <a:endParaRPr sz="120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Expand beyond career guidance to include technical interview preparation and coding skill evaluation.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9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AI Hiring with LLMs: A Context-Aware and Explainable Multi-Agent Framework for Resume Screening (arXiv, 2025) </a:t>
                      </a:r>
                      <a:endParaRPr sz="1200" b="1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Employs multiple LLM agents with Retrieval-Augmented Generation (RAG) for resume extraction, evaluation, and explainable candidate scoring </a:t>
                      </a:r>
                      <a:endParaRPr sz="120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Designed for recruiters and hiring organizations rather than students preparing for interviews. </a:t>
                      </a:r>
                      <a:endParaRPr sz="120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Focuses on student-centric interview preparation with adaptive assessments and personalized feedback instead of recruitment automation. 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 student-centric interview preparation with personalized feedback and skill development.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567be67e6_0_47"/>
          <p:cNvSpPr txBox="1">
            <a:spLocks noGrp="1"/>
          </p:cNvSpPr>
          <p:nvPr>
            <p:ph type="title"/>
          </p:nvPr>
        </p:nvSpPr>
        <p:spPr>
          <a:xfrm>
            <a:off x="446600" y="5795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Literature Review / Background Study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4" name="Google Shape;154;g3f567be67e6_0_47"/>
          <p:cNvGraphicFramePr/>
          <p:nvPr>
            <p:extLst>
              <p:ext uri="{D42A27DB-BD31-4B8C-83A1-F6EECF244321}">
                <p14:modId xmlns:p14="http://schemas.microsoft.com/office/powerpoint/2010/main" val="1664996492"/>
              </p:ext>
            </p:extLst>
          </p:nvPr>
        </p:nvGraphicFramePr>
        <p:xfrm>
          <a:off x="223520" y="1265450"/>
          <a:ext cx="8310881" cy="5022600"/>
        </p:xfrm>
        <a:graphic>
          <a:graphicData uri="http://schemas.openxmlformats.org/drawingml/2006/table">
            <a:tbl>
              <a:tblPr>
                <a:noFill/>
                <a:tableStyleId>{E406713E-8740-4FD4-8597-E078574AA9A1}</a:tableStyleId>
              </a:tblPr>
              <a:tblGrid>
                <a:gridCol w="1921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72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72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72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7223">
                  <a:extLst>
                    <a:ext uri="{9D8B030D-6E8A-4147-A177-3AD203B41FA5}">
                      <a16:colId xmlns:a16="http://schemas.microsoft.com/office/drawing/2014/main" val="3284757430"/>
                    </a:ext>
                  </a:extLst>
                </a:gridCol>
              </a:tblGrid>
              <a:tr h="866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Existing System</a:t>
                      </a:r>
                      <a:endParaRPr sz="150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Methodology</a:t>
                      </a:r>
                      <a:endParaRPr sz="150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Research Gap / Limitations</a:t>
                      </a:r>
                      <a:endParaRPr sz="150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How the Proposed System Addresses the Gap</a:t>
                      </a:r>
                      <a:endParaRPr sz="150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500" b="1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Future Scope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7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Adaptive LLM-Based Tutoring System for Coding Interview Preparation and Automated Code Evaluation (2025) </a:t>
                      </a:r>
                      <a:endParaRPr sz="1200" b="1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Uses Large Language Models to generate coding problems, evaluate submitted code, and provide adaptive tutoring. </a:t>
                      </a:r>
                      <a:endParaRPr sz="120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Does not consider resumes, academic records, or project experience while personalizing assessments. </a:t>
                      </a:r>
                      <a:endParaRPr sz="120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Generates coding questions using the complete candidate profile, resulting in more targeted interview preparation. </a:t>
                      </a:r>
                      <a:endParaRPr sz="120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 resume, academic, and project analysis for more personalized interview preparation.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9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Layout-Aware Parsing Meets Efficient LLMs: A Unified Framework for Resume Information Extraction and Evaluation (arXiv, 2025) </a:t>
                      </a:r>
                      <a:endParaRPr sz="1200" b="1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Combines layout-aware document parsing with efficient LLMs for accurate resume information extraction and evaluation </a:t>
                      </a:r>
                      <a:endParaRPr sz="120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Concentrates on resume parsing accuracy without interview preparation or educational recommendations. </a:t>
                      </a:r>
                      <a:endParaRPr sz="120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Utilizes parsed resume information as the foundation for adaptive interview generation, answer evaluation, and personalized learning. 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 resume parsing with interview generation, response evaluation, and learning recommendations.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567be67e6_0_61"/>
          <p:cNvSpPr txBox="1">
            <a:spLocks noGrp="1"/>
          </p:cNvSpPr>
          <p:nvPr>
            <p:ph type="title"/>
          </p:nvPr>
        </p:nvSpPr>
        <p:spPr>
          <a:xfrm>
            <a:off x="446600" y="5795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Literature Review / Background Study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0" name="Google Shape;160;g3f567be67e6_0_61"/>
          <p:cNvGraphicFramePr/>
          <p:nvPr>
            <p:extLst>
              <p:ext uri="{D42A27DB-BD31-4B8C-83A1-F6EECF244321}">
                <p14:modId xmlns:p14="http://schemas.microsoft.com/office/powerpoint/2010/main" val="4262335398"/>
              </p:ext>
            </p:extLst>
          </p:nvPr>
        </p:nvGraphicFramePr>
        <p:xfrm>
          <a:off x="176800" y="1265450"/>
          <a:ext cx="8418560" cy="4794000"/>
        </p:xfrm>
        <a:graphic>
          <a:graphicData uri="http://schemas.openxmlformats.org/drawingml/2006/table">
            <a:tbl>
              <a:tblPr>
                <a:noFill/>
                <a:tableStyleId>{E406713E-8740-4FD4-8597-E078574AA9A1}</a:tableStyleId>
              </a:tblPr>
              <a:tblGrid>
                <a:gridCol w="1683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3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3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3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3712">
                  <a:extLst>
                    <a:ext uri="{9D8B030D-6E8A-4147-A177-3AD203B41FA5}">
                      <a16:colId xmlns:a16="http://schemas.microsoft.com/office/drawing/2014/main" val="854365272"/>
                    </a:ext>
                  </a:extLst>
                </a:gridCol>
              </a:tblGrid>
              <a:tr h="866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Existing System</a:t>
                      </a:r>
                      <a:endParaRPr sz="150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Methodology</a:t>
                      </a:r>
                      <a:endParaRPr sz="150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Research Gap / Limitations</a:t>
                      </a:r>
                      <a:endParaRPr sz="150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How the Proposed System Addresses the Gap</a:t>
                      </a:r>
                      <a:endParaRPr sz="150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500" b="1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Future Scope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7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AI-Based Resume Analyzer and Interview Simulator (2025) </a:t>
                      </a:r>
                      <a:endParaRPr sz="1200" b="1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Uses NLP for resume parsing, machine learning for role mapping, and adaptive interview simulation with AI-generated feedback. </a:t>
                      </a:r>
                      <a:endParaRPr sz="120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Limited integration of academic performance and project-based assessment. </a:t>
                      </a:r>
                      <a:endParaRPr sz="120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Incorporates multiple candidate attributes including academics, projects, and coding performance for holistic placement preparation. </a:t>
                      </a:r>
                      <a:endParaRPr sz="120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 personalization using academic performance, project experience, and adaptive learning strategies.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9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AI-Driven Resume Parsing and Automated Interview Question Generation using NLP (2025) </a:t>
                      </a:r>
                      <a:endParaRPr sz="1200" b="1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Applies NLP to extract resume information and automatically generate interview questions based on candidate skills </a:t>
                      </a:r>
                      <a:endParaRPr sz="120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Question generation is largely static and lacks adaptive evaluation or continuous learning recommendations. </a:t>
                      </a:r>
                      <a:endParaRPr sz="120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Evaluates candidate responses, identifies weak concepts, adjusts future question difficulty, and recommends topics for improvement.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 dynamic answer evaluation, skill-gap analysis, and continuous personalized learning recommendations.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Hardware and Software Requirements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9061B91B-531D-4007-F5C4-0E5CEE840B00}"/>
              </a:ext>
            </a:extLst>
          </p:cNvPr>
          <p:cNvSpPr/>
          <p:nvPr/>
        </p:nvSpPr>
        <p:spPr>
          <a:xfrm>
            <a:off x="480060" y="17830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Hardware Requirements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E27C76D1-8AC8-18AE-2F44-9534CCE7A1BF}"/>
              </a:ext>
            </a:extLst>
          </p:cNvPr>
          <p:cNvSpPr/>
          <p:nvPr/>
        </p:nvSpPr>
        <p:spPr>
          <a:xfrm>
            <a:off x="480060" y="2125980"/>
            <a:ext cx="4011930" cy="3360420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DD40296-38CD-11E7-2443-F069B0052B84}"/>
              </a:ext>
            </a:extLst>
          </p:cNvPr>
          <p:cNvSpPr/>
          <p:nvPr/>
        </p:nvSpPr>
        <p:spPr>
          <a:xfrm>
            <a:off x="480060" y="2455729"/>
            <a:ext cx="36347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1050"/>
              </a:spcAft>
              <a:buSzPct val="100000"/>
              <a:buChar char="▪"/>
            </a:pPr>
            <a:r>
              <a:rPr lang="en-US" sz="1200" dirty="0">
                <a:solidFill>
                  <a:srgbClr val="0F306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Personal computer / laptop with a minimum of 8 GB RAM (16 GB recommended)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spcAft>
                <a:spcPts val="1050"/>
              </a:spcAft>
              <a:buSzPct val="100000"/>
              <a:buChar char="▪"/>
            </a:pPr>
            <a:r>
              <a:rPr lang="en-US" sz="1200" dirty="0">
                <a:solidFill>
                  <a:srgbClr val="0F306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Intel Core i5 processor (or equivalent) or higher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spcAft>
                <a:spcPts val="1050"/>
              </a:spcAft>
              <a:buSzPct val="100000"/>
              <a:buChar char="▪"/>
            </a:pPr>
            <a:r>
              <a:rPr lang="en-US" sz="1200" dirty="0">
                <a:solidFill>
                  <a:srgbClr val="0F306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Minimum 10 GB of free storage space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spcAft>
                <a:spcPts val="1050"/>
              </a:spcAft>
              <a:buSzPct val="100000"/>
              <a:buChar char="▪"/>
            </a:pPr>
            <a:r>
              <a:rPr lang="en-US" sz="1200" dirty="0">
                <a:solidFill>
                  <a:srgbClr val="0F306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Stable, high-speed internet connection for LLM API access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spcAft>
                <a:spcPts val="1050"/>
              </a:spcAft>
              <a:buSzPct val="100000"/>
              <a:buChar char="▪"/>
            </a:pPr>
            <a:r>
              <a:rPr lang="en-US" sz="1200" dirty="0">
                <a:solidFill>
                  <a:srgbClr val="0F306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Standard webcam and microphone (for future mock-interview simulation features)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5E5C12D-9530-63DE-1B68-2B50D6AC1C56}"/>
              </a:ext>
            </a:extLst>
          </p:cNvPr>
          <p:cNvSpPr/>
          <p:nvPr/>
        </p:nvSpPr>
        <p:spPr>
          <a:xfrm>
            <a:off x="4697730" y="17830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Software Requirements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ECC5BA65-FB93-ADF8-CBE9-8F896E6A9432}"/>
              </a:ext>
            </a:extLst>
          </p:cNvPr>
          <p:cNvSpPr/>
          <p:nvPr/>
        </p:nvSpPr>
        <p:spPr>
          <a:xfrm>
            <a:off x="4697730" y="2125980"/>
            <a:ext cx="3943350" cy="3360420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FC6F7C97-F40C-7DCC-DF54-986B9CE7B7BA}"/>
              </a:ext>
            </a:extLst>
          </p:cNvPr>
          <p:cNvSpPr/>
          <p:nvPr/>
        </p:nvSpPr>
        <p:spPr>
          <a:xfrm>
            <a:off x="4903470" y="2297430"/>
            <a:ext cx="360045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750"/>
              </a:spcAft>
              <a:buSzPct val="100000"/>
              <a:buChar char="▪"/>
            </a:pPr>
            <a:r>
              <a:rPr lang="en-US" sz="1200" dirty="0">
                <a:solidFill>
                  <a:srgbClr val="0F306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Python 3.10+ with Flask and Flask-Login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spcAft>
                <a:spcPts val="750"/>
              </a:spcAft>
              <a:buSzPct val="100000"/>
              <a:buChar char="▪"/>
            </a:pPr>
            <a:r>
              <a:rPr lang="en-US" sz="1200" dirty="0">
                <a:solidFill>
                  <a:srgbClr val="0F306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Groq API (Llama 3.3 70B) for question generation and AI grading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spcAft>
                <a:spcPts val="750"/>
              </a:spcAft>
              <a:buSzPct val="100000"/>
              <a:buChar char="▪"/>
            </a:pPr>
            <a:r>
              <a:rPr lang="en-US" sz="1200" dirty="0">
                <a:solidFill>
                  <a:srgbClr val="0F306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pdfplumber and python-docx for resume parsing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spcAft>
                <a:spcPts val="750"/>
              </a:spcAft>
              <a:buSzPct val="100000"/>
              <a:buChar char="▪"/>
            </a:pPr>
            <a:r>
              <a:rPr lang="en-US" sz="1200" dirty="0">
                <a:solidFill>
                  <a:srgbClr val="0F306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scikit-learn (TF-IDF) for answer similarity scoring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spcAft>
                <a:spcPts val="750"/>
              </a:spcAft>
              <a:buSzPct val="100000"/>
              <a:buChar char="▪"/>
            </a:pPr>
            <a:r>
              <a:rPr lang="en-US" sz="1200" dirty="0">
                <a:solidFill>
                  <a:srgbClr val="0F306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PostgreSQL (Supabase) / SQLite for profiles and results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spcAft>
                <a:spcPts val="750"/>
              </a:spcAft>
              <a:buSzPct val="100000"/>
              <a:buChar char="▪"/>
            </a:pPr>
            <a:r>
              <a:rPr lang="en-US" sz="1200" dirty="0">
                <a:solidFill>
                  <a:srgbClr val="0F306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Docker Desktop for the sandboxed DSA code runner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spcAft>
                <a:spcPts val="750"/>
              </a:spcAft>
              <a:buSzPct val="100000"/>
              <a:buChar char="▪"/>
            </a:pPr>
            <a:r>
              <a:rPr lang="en-US" sz="1200" dirty="0">
                <a:solidFill>
                  <a:srgbClr val="0F306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HTML, CSS, JavaScript with Jinja2 templates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spcAft>
                <a:spcPts val="750"/>
              </a:spcAft>
              <a:buSzPct val="100000"/>
              <a:buChar char="▪"/>
            </a:pPr>
            <a:r>
              <a:rPr lang="en-US" sz="1200" dirty="0">
                <a:solidFill>
                  <a:srgbClr val="0F306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Git / GitHub, VS Code; pytest for automated testing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Key Technical Implementation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2E034A-E7F7-6D4E-F054-B080EAB1F8F7}"/>
              </a:ext>
            </a:extLst>
          </p:cNvPr>
          <p:cNvSpPr txBox="1"/>
          <p:nvPr/>
        </p:nvSpPr>
        <p:spPr>
          <a:xfrm>
            <a:off x="4652013" y="2057400"/>
            <a:ext cx="4591664" cy="39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parsing runs in an isolated, time-limited process and builds a structured profile.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generation is personalised by resume, chosen topic, weak areas and history; every LLM question is validated.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 evaluation blends a concept rubric, meaning similarity to a model answer and AI grading.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Proficiency uses Bayesian smoothing with recency weighting, so one lucky answer can't mark a topic strong.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AI-generated DSA problems are accepted only if their reference solution passes their own tests.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architecture separates parsing, generation, evaluation, analytics and execution.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E3CBADF0-A5B5-9EE1-AE62-19BE930E7D73}"/>
              </a:ext>
            </a:extLst>
          </p:cNvPr>
          <p:cNvSpPr/>
          <p:nvPr/>
        </p:nvSpPr>
        <p:spPr>
          <a:xfrm>
            <a:off x="480059" y="1627278"/>
            <a:ext cx="4011930" cy="4260420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118E9303-CCCC-90F5-3D90-7A06E866DC3B}"/>
              </a:ext>
            </a:extLst>
          </p:cNvPr>
          <p:cNvSpPr/>
          <p:nvPr/>
        </p:nvSpPr>
        <p:spPr>
          <a:xfrm>
            <a:off x="574356" y="2223383"/>
            <a:ext cx="3823335" cy="39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Language: Python 3.10+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Framework: Flask, Flask-Login, Jinja2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JavaScript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PostgreSQL (Supabase), SQLite fallback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Parsing: pdfplumber, python-docx, rule-based NLP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/ ML: Groq Llama 3.3 70B, scikit-learn TF-IDF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Analytics: Bayesian proficiency metric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Runner: Docker sandbox (no network, read-only)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 bcrypt, CSRF tokens, CSP, rate limits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Testing: pytest (184 tests) + validation suite</a:t>
            </a: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2683FB99-8064-636E-0885-AA49C68C336E}"/>
              </a:ext>
            </a:extLst>
          </p:cNvPr>
          <p:cNvSpPr/>
          <p:nvPr/>
        </p:nvSpPr>
        <p:spPr>
          <a:xfrm>
            <a:off x="574357" y="17830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6407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Tech Stack Used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6A2A8DB2-263D-02F4-9495-EE7F914F6197}"/>
              </a:ext>
            </a:extLst>
          </p:cNvPr>
          <p:cNvSpPr/>
          <p:nvPr/>
        </p:nvSpPr>
        <p:spPr>
          <a:xfrm>
            <a:off x="4772212" y="168869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Algorithms &amp; Design Decisions</a:t>
            </a:r>
            <a:endParaRPr lang="en-US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Practice Modes and Answer Evaluation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2E034A-E7F7-6D4E-F054-B080EAB1F8F7}"/>
              </a:ext>
            </a:extLst>
          </p:cNvPr>
          <p:cNvSpPr txBox="1"/>
          <p:nvPr/>
        </p:nvSpPr>
        <p:spPr>
          <a:xfrm>
            <a:off x="4652013" y="2057400"/>
            <a:ext cx="4591664" cy="39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concepts accept synonyms and alternative phrasings.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typos are tolerated; half-explained points earn partial credit.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 similarity to a model answer rewards correct answers in the student's own words.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grader marks concept by concept and flags factual errors; blended 70 / 30 with the rubric.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Anti-gaming: keyword lists capped at 50%, question echo ignored, grader manipulation detected.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shows covered / partial / missing points, strengths, improvements and a model answer.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E3CBADF0-A5B5-9EE1-AE62-19BE930E7D73}"/>
              </a:ext>
            </a:extLst>
          </p:cNvPr>
          <p:cNvSpPr/>
          <p:nvPr/>
        </p:nvSpPr>
        <p:spPr>
          <a:xfrm>
            <a:off x="480059" y="1627278"/>
            <a:ext cx="4011930" cy="4260420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118E9303-CCCC-90F5-3D90-7A06E866DC3B}"/>
              </a:ext>
            </a:extLst>
          </p:cNvPr>
          <p:cNvSpPr/>
          <p:nvPr/>
        </p:nvSpPr>
        <p:spPr>
          <a:xfrm>
            <a:off x="574356" y="2223383"/>
            <a:ext cx="3823335" cy="39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5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Interview: 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about the student's own projects, internships and skills, plus behavioural / HR (STAR) questions. Pick a specific project or internship.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5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Technical: 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CS concepts across 11 topics (DSA, DBMS, OS, CN, OOP, System Design, Python, ML, Web). Pick a topic or 'Recommended' (weak areas first).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50" dirty="0" b="1">
                <a:latin typeface="Times New Roman" panose="02020603050405020304" pitchFamily="18" charset="0"/>
                <a:cs typeface="Times New Roman" panose="02020603050405020304" pitchFamily="18" charset="0"/>
              </a:rPr>
              <a:t>DSA: </a:t>
            </a:r>
            <a:r>
              <a:rPr lang="en-IN" sz="1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57 verified coding problems with an in-browser editor, sample tests (Run) and hidden tests (Submit).</a:t>
            </a: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2683FB99-8064-636E-0885-AA49C68C336E}"/>
              </a:ext>
            </a:extLst>
          </p:cNvPr>
          <p:cNvSpPr/>
          <p:nvPr/>
        </p:nvSpPr>
        <p:spPr>
          <a:xfrm>
            <a:off x="574357" y="17830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6407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Three Practice Modes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6A2A8DB2-263D-02F4-9495-EE7F914F6197}"/>
              </a:ext>
            </a:extLst>
          </p:cNvPr>
          <p:cNvSpPr/>
          <p:nvPr/>
        </p:nvSpPr>
        <p:spPr>
          <a:xfrm>
            <a:off x="4772212" y="168869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Answers Are Scored</a:t>
            </a:r>
            <a:endParaRPr lang="en-US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277DF300-FB82-927A-92C1-31C0D496D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A859CBA3-8D66-DB61-2E50-7FEB695EE9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 err="1">
                <a:latin typeface="Times New Roman"/>
                <a:ea typeface="Times New Roman"/>
                <a:cs typeface="Times New Roman"/>
                <a:sym typeface="Times New Roman"/>
              </a:rPr>
              <a:t>FlowChart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C42804-BA44-85BC-1A3E-154E909BB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228" y="883145"/>
            <a:ext cx="5989075" cy="5381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100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Security and Reliability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2E034A-E7F7-6D4E-F054-B080EAB1F8F7}"/>
              </a:ext>
            </a:extLst>
          </p:cNvPr>
          <p:cNvSpPr txBox="1"/>
          <p:nvPr/>
        </p:nvSpPr>
        <p:spPr>
          <a:xfrm>
            <a:off x="4652013" y="2057400"/>
            <a:ext cx="4591664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900"/>
              </a:spcAft>
              <a:buSzPct val="100000"/>
              <a:buChar char="▪"/>
            </a:pPr>
            <a:r>
              <a:rPr lang="en-IN" dirty="0" sz="1150">
                <a:latin typeface="Times New Roman" panose="02020603050405020304" pitchFamily="18" charset="0"/>
                <a:cs typeface="Times New Roman" panose="02020603050405020304" pitchFamily="18" charset="0"/>
              </a:rPr>
              <a:t>Email-verified accounts: bcrypt passwords, breached-password check, hashed one-time codes with attempt limits</a:t>
            </a:r>
          </a:p>
          <a:p>
            <a:pPr marL="171450" indent="-171450">
              <a:spcAft>
                <a:spcPts val="900"/>
              </a:spcAft>
              <a:buSzPct val="100000"/>
              <a:buChar char="▪"/>
            </a:pPr>
            <a:r>
              <a:rPr lang="en-IN" dirty="0" sz="1150">
                <a:latin typeface="Times New Roman" panose="02020603050405020304" pitchFamily="18" charset="0"/>
                <a:cs typeface="Times New Roman" panose="02020603050405020304" pitchFamily="18" charset="0"/>
              </a:rPr>
              <a:t>CSRF tokens, strict Content-Security-Policy and security headers on every page</a:t>
            </a:r>
          </a:p>
          <a:p>
            <a:pPr marL="171450" indent="-171450">
              <a:spcAft>
                <a:spcPts val="900"/>
              </a:spcAft>
              <a:buSzPct val="100000"/>
              <a:buChar char="▪"/>
            </a:pPr>
            <a:r>
              <a:rPr lang="en-IN" dirty="0" sz="1150">
                <a:latin typeface="Times New Roman" panose="02020603050405020304" pitchFamily="18" charset="0"/>
                <a:cs typeface="Times New Roman" panose="02020603050405020304" pitchFamily="18" charset="0"/>
              </a:rPr>
              <a:t>Every profile, question and problem is checked against its owner</a:t>
            </a:r>
          </a:p>
          <a:p>
            <a:pPr marL="171450" indent="-171450">
              <a:spcAft>
                <a:spcPts val="900"/>
              </a:spcAft>
              <a:buSzPct val="100000"/>
              <a:buChar char="▪"/>
            </a:pPr>
            <a:r>
              <a:rPr lang="en-IN" dirty="0" sz="1150">
                <a:latin typeface="Times New Roman" panose="02020603050405020304" pitchFamily="18" charset="0"/>
                <a:cs typeface="Times New Roman" panose="02020603050405020304" pitchFamily="18" charset="0"/>
              </a:rPr>
              <a:t>Rate limits on login, codes, uploads, AI calls and code runs</a:t>
            </a:r>
          </a:p>
          <a:p>
            <a:pPr marL="171450" indent="-171450">
              <a:spcAft>
                <a:spcPts val="900"/>
              </a:spcAft>
              <a:buSzPct val="100000"/>
              <a:buChar char="▪"/>
            </a:pPr>
            <a:r>
              <a:rPr lang="en-IN" dirty="0" sz="1150">
                <a:latin typeface="Times New Roman" panose="02020603050405020304" pitchFamily="18" charset="0"/>
                <a:cs typeface="Times New Roman" panose="02020603050405020304" pitchFamily="18" charset="0"/>
              </a:rPr>
              <a:t>Resumes parsed in a sandboxed process; submitted code runs only inside Docker</a:t>
            </a:r>
          </a:p>
          <a:p>
            <a:pPr marL="171450" indent="-171450">
              <a:spcAft>
                <a:spcPts val="900"/>
              </a:spcAft>
              <a:buSzPct val="100000"/>
              <a:buChar char="▪"/>
            </a:pPr>
            <a:r>
              <a:rPr lang="en-IN" dirty="0" sz="1150">
                <a:latin typeface="Times New Roman" panose="02020603050405020304" pitchFamily="18" charset="0"/>
                <a:cs typeface="Times New Roman" panose="02020603050405020304" pitchFamily="18" charset="0"/>
              </a:rPr>
              <a:t>LLM prompts use server-side data only; AI output validated before use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E3CBADF0-A5B5-9EE1-AE62-19BE930E7D73}"/>
              </a:ext>
            </a:extLst>
          </p:cNvPr>
          <p:cNvSpPr/>
          <p:nvPr/>
        </p:nvSpPr>
        <p:spPr>
          <a:xfrm>
            <a:off x="480059" y="1627278"/>
            <a:ext cx="4011930" cy="3360420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118E9303-CCCC-90F5-3D90-7A06E866DC3B}"/>
              </a:ext>
            </a:extLst>
          </p:cNvPr>
          <p:cNvSpPr/>
          <p:nvPr/>
        </p:nvSpPr>
        <p:spPr>
          <a:xfrm>
            <a:off x="574356" y="2223383"/>
            <a:ext cx="382333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 full security audit covering 25 areas (mapped to the OWASP Top 10) found 28 issues. All were fixed in four phases and re-verified by an independent adversarial review, 90+ security regression tests, dependency scanning (pip-audit) and static analysis (bandit, zero medium/high findings).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2683FB99-8064-636E-0885-AA49C68C336E}"/>
              </a:ext>
            </a:extLst>
          </p:cNvPr>
          <p:cNvSpPr/>
          <p:nvPr/>
        </p:nvSpPr>
        <p:spPr>
          <a:xfrm>
            <a:off x="574357" y="17830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b="1" dirty="0">
                <a:solidFill>
                  <a:srgbClr val="1640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Audit</a:t>
            </a:r>
            <a:endParaRPr lang="en-US" sz="1275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6A2A8DB2-263D-02F4-9495-EE7F914F6197}"/>
              </a:ext>
            </a:extLst>
          </p:cNvPr>
          <p:cNvSpPr/>
          <p:nvPr/>
        </p:nvSpPr>
        <p:spPr>
          <a:xfrm>
            <a:off x="4772212" y="168869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b="1" dirty="0">
                <a:solidFill>
                  <a:srgbClr val="1640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Protections</a:t>
            </a:r>
            <a:endParaRPr lang="en-US" sz="12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Module Implementation Status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6" name="Google Shape;136;p5"/>
          <p:cNvGraphicFramePr/>
          <p:nvPr>
            <p:extLst>
              <p:ext uri="{D42A27DB-BD31-4B8C-83A1-F6EECF244321}">
                <p14:modId xmlns:p14="http://schemas.microsoft.com/office/powerpoint/2010/main" val="1861168018"/>
              </p:ext>
            </p:extLst>
          </p:nvPr>
        </p:nvGraphicFramePr>
        <p:xfrm>
          <a:off x="311700" y="1265450"/>
          <a:ext cx="8520600" cy="4400000"/>
        </p:xfrm>
        <a:graphic>
          <a:graphicData uri="http://schemas.openxmlformats.org/drawingml/2006/table">
            <a:tbl>
              <a:tblPr>
                <a:noFill/>
                <a:tableStyleId>{E406713E-8740-4FD4-8597-E078574AA9A1}</a:tableStyleId>
              </a:tblPr>
              <a:tblGrid>
                <a:gridCol w="1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0600">
                  <a:extLst>
                    <a:ext uri="{9D8B030D-6E8A-4147-A177-3AD203B41FA5}">
                      <a16:colId xmlns:a16="http://schemas.microsoft.com/office/drawing/2014/main" val="2582368380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Module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500" b="1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Owner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5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5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Status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5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Summary</a:t>
                      </a:r>
                      <a:endParaRPr sz="15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M1</a:t>
                      </a:r>
                      <a:br/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Profile Parsing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Joyal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100%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Done</a:t>
                      </a:r>
                      <a:endParaRPr sz="1200" dirty="0">
                        <a:solidFill>
                          <a:srgbClr val="00B05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PDF/DOCX parsing into skills, education, projects and internships; sandboxed parser; edit and re-upload; resume feedback (field F1 0.977).</a:t>
                      </a:r>
                      <a:endParaRPr sz="1200" b="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M2</a:t>
                      </a:r>
                      <a:br/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Question Generation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Aiswarya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100%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Done</a:t>
                      </a:r>
                      <a:endParaRPr sz="12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Interview and Technical modes with topic picker; Groq LLM generation with validation; 74 technical + 12 behavioural questions + resume templates.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M3</a:t>
                      </a:r>
                      <a:br/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Evaluation &amp; Feedback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Nihal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100%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Done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Concept rubric with synonyms, typo tolerance and partial credit; meaning similarity; AI grading; structured feedback; Docker DSA judge.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773437677"/>
                  </a:ext>
                </a:extLst>
              </a:tr>
              <a:tr h="780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M4</a:t>
                      </a:r>
                      <a:br/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Analytics &amp; Recommendation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Gowtham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100%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200" b="1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Done</a:t>
                      </a:r>
                      <a:endParaRPr lang="en-GB"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Bayesian recency-weighted proficiency; weak / strong areas; recommendations linked to the right practice mode and topic.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851864751"/>
                  </a:ext>
                </a:extLst>
              </a:tr>
              <a:tr h="780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M5</a:t>
                      </a:r>
                      <a:br/>
                      <a:r>
                        <a:rPr lang="en-GB" sz="12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Dashboard &amp; Integration</a:t>
                      </a:r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Gowtham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100%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Done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 flow live on PostgreSQL (Supabase); email-verified auth, password reset, display names; security-audited.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7806860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Testing and Validation Results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6" name="Google Shape;136;p5"/>
          <p:cNvGraphicFramePr/>
          <p:nvPr>
            <p:extLst>
              <p:ext uri="{D42A27DB-BD31-4B8C-83A1-F6EECF244321}">
                <p14:modId xmlns:p14="http://schemas.microsoft.com/office/powerpoint/2010/main" val="1861168018"/>
              </p:ext>
            </p:extLst>
          </p:nvPr>
        </p:nvGraphicFramePr>
        <p:xfrm>
          <a:off x="311700" y="1265450"/>
          <a:ext cx="8520600" cy="4224528"/>
        </p:xfrm>
        <a:graphic>
          <a:graphicData uri="http://schemas.openxmlformats.org/drawingml/2006/table">
            <a:tbl>
              <a:tblPr>
                <a:noFill/>
                <a:tableStyleId>{E406713E-8740-4FD4-8597-E078574AA9A1}</a:tableStyleId>
              </a:tblPr>
              <a:tblGrid>
                <a:gridCol w="1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0600">
                  <a:extLst>
                    <a:ext uri="{9D8B030D-6E8A-4147-A177-3AD203B41FA5}">
                      <a16:colId xmlns:a16="http://schemas.microsoft.com/office/drawing/2014/main" val="2582368380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Area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30000" marB="300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200" b="1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30000" marB="300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Target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30000" marB="300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Status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30000" marB="300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What was measured</a:t>
                      </a:r>
                      <a:endParaRPr sz="15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30000" marB="30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Resume Parsing</a:t>
                      </a:r>
                      <a:br/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30000" marB="300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F1 0.977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30000" marB="300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≥ 0.80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30000" marB="300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Pass</a:t>
                      </a:r>
                      <a:endParaRPr sz="1200" dirty="0">
                        <a:solidFill>
                          <a:srgbClr val="00B05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30000" marB="30000"/>
                </a:tc>
                <a:tc>
                  <a:txBody>
                    <a:bodyPr/>
                    <a:lstStyle/>
                    <a:p>
                      <a:pPr marL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Field-level macro-F1 on labelled resumes (PDF and DOCX); internships and projects F1 1.00.</a:t>
                      </a:r>
                      <a:endParaRPr sz="1200" b="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30000" marB="30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Answer Scoring</a:t>
                      </a:r>
                      <a:br/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30000" marB="300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94.7%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30000" marB="300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≥ 80%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30000" marB="300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Pass</a:t>
                      </a:r>
                      <a:endParaRPr sz="12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30000" marB="300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Correct score band on 38 realistic hand-written answers (synonyms, typos, partial). Old keyword method: 36.8%.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30000" marB="30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Scoring Consistency</a:t>
                      </a:r>
                      <a:br/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30000" marB="300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ρ = 0.951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30000" marB="300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≥ 0.80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30000" marB="300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Pass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30000" marB="300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Spearman correlation between answer quality and score on 345 cases; MCQ accuracy 100%.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30000" marB="30000"/>
                </a:tc>
                <a:extLst>
                  <a:ext uri="{0D108BD9-81ED-4DB2-BD59-A6C34878D82A}">
                    <a16:rowId xmlns:a16="http://schemas.microsoft.com/office/drawing/2014/main" val="177343767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DSA Code Judge</a:t>
                      </a:r>
                      <a:br/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30000" marB="300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100%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30000" marB="300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100%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30000" marB="30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100" b="1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Pass</a:t>
                      </a:r>
                      <a:endParaRPr lang="en-GB"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30000" marB="300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Correct verdict for correct, wrong, crashing and slow solutions on all 57 problems.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30000" marB="30000"/>
                </a:tc>
                <a:extLst>
                  <a:ext uri="{0D108BD9-81ED-4DB2-BD59-A6C34878D82A}">
                    <a16:rowId xmlns:a16="http://schemas.microsoft.com/office/drawing/2014/main" val="185186475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Skill Metric</a:t>
                      </a:r>
                      <a:br/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30000" marB="300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0% false flags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30000" marB="300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—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30000" marB="300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Pass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30000" marB="300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false 'weak' flags after one attempt (simple average: 20.3%); error reduced 33%.</a:t>
                      </a:r>
                      <a:endParaRPr sz="120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30000" marB="30000"/>
                </a:tc>
                <a:extLst>
                  <a:ext uri="{0D108BD9-81ED-4DB2-BD59-A6C34878D82A}">
                    <a16:rowId xmlns:a16="http://schemas.microsoft.com/office/drawing/2014/main" val="78068602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Security &amp; Integrity</a:t>
                      </a:r>
                      <a:br/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30000" marB="300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 / 11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30000" marB="300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 / 11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30000" marB="300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Pass</a:t>
                      </a:r>
                      <a:endParaRPr sz="1200" dirty="0">
                        <a:solidFill>
                          <a:srgbClr val="00B05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30000" marB="30000"/>
                </a:tc>
                <a:tc>
                  <a:txBody>
                    <a:bodyPr/>
                    <a:lstStyle/>
                    <a:p>
                      <a:pPr marL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Answer keys never sent to the browser, forged scores rejected, other users' data blocked.</a:t>
                      </a:r>
                      <a:endParaRPr sz="1200" b="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30000" marB="30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Automated Tests</a:t>
                      </a:r>
                      <a:br/>
                      <a:endParaRPr sz="12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30000" marB="300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184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30000" marB="300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All pass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30000" marB="300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Pass</a:t>
                      </a:r>
                      <a:endParaRPr sz="1200" dirty="0">
                        <a:solidFill>
                          <a:srgbClr val="00B05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30000" marB="30000"/>
                </a:tc>
                <a:tc>
                  <a:txBody>
                    <a:bodyPr/>
                    <a:lstStyle/>
                    <a:p>
                      <a:pPr marL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Unit, end-to-end, security regression and practice-mode tests (pytest).</a:t>
                      </a:r>
                      <a:endParaRPr sz="1200" b="0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91425" marR="91425" marT="30000" marB="30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Product Walkthrough</a:t>
            </a:r>
            <a:endParaRPr/>
          </a:p>
        </p:txBody>
      </p:sp>
      <p:sp>
        <p:nvSpPr>
          <p:cNvPr id="90" name="Intro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150" b="1">
                <a:solidFill>
                  <a:srgbClr val="5B6472"/>
                </a:solidFill>
                <a:latin typeface="Georgia"/>
              </a:rPr>
              <a:t>Live, working end-to-end on real data — upload → profile → practice → dashboard</a:t>
            </a:r>
          </a:p>
        </p:txBody>
      </p:sp>
      <p:sp>
        <p:nvSpPr>
          <p:cNvPr id="91" name="Cap1"/>
          <p:cNvSpPr/>
          <p:nvPr/>
        </p:nvSpPr>
        <p:spPr>
          <a:xfrm>
            <a:off x="457200" y="1691640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100" b="1">
                <a:solidFill>
                  <a:srgbClr val="16407A"/>
                </a:solidFill>
                <a:latin typeface="Georgia"/>
              </a:rPr>
              <a:t>Auto-generated candidate dashboard (M5)</a:t>
            </a:r>
          </a:p>
        </p:txBody>
      </p:sp>
      <p:sp>
        <p:nvSpPr>
          <p:cNvPr id="93" name="Cap2"/>
          <p:cNvSpPr/>
          <p:nvPr/>
        </p:nvSpPr>
        <p:spPr>
          <a:xfrm>
            <a:off x="457200" y="432819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100" b="1">
                <a:solidFill>
                  <a:srgbClr val="16407A"/>
                </a:solidFill>
                <a:latin typeface="Georgia"/>
              </a:rPr>
              <a:t>Skill fingerprint &amp; weak areas (M4)</a:t>
            </a:r>
          </a:p>
        </p:txBody>
      </p:sp>
      <p:pic>
        <p:nvPicPr>
          <p:cNvPr id="94" name="Skill fingerprint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620806"/>
            <a:ext cx="3931920" cy="932471"/>
          </a:xfrm>
          <a:prstGeom prst="rect">
            <a:avLst/>
          </a:prstGeom>
          <a:ln w="9525">
            <a:solidFill>
              <a:srgbClr val="D5D9DF"/>
            </a:solidFill>
          </a:ln>
        </p:spPr>
      </p:pic>
      <p:sp>
        <p:nvSpPr>
          <p:cNvPr id="95" name="Cap3"/>
          <p:cNvSpPr/>
          <p:nvPr/>
        </p:nvSpPr>
        <p:spPr>
          <a:xfrm>
            <a:off x="4663440" y="169164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100" b="1">
                <a:solidFill>
                  <a:srgbClr val="16407A"/>
                </a:solidFill>
                <a:latin typeface="Georgia"/>
              </a:rPr>
              <a:t>Adaptive practice question (M2 + M3 scoring)</a:t>
            </a:r>
          </a:p>
        </p:txBody>
      </p:sp>
      <p:sp>
        <p:nvSpPr>
          <p:cNvPr id="97" name="Notes"/>
          <p:cNvSpPr/>
          <p:nvPr/>
        </p:nvSpPr>
        <p:spPr>
          <a:xfrm>
            <a:off x="4663440" y="4187951"/>
            <a:ext cx="4023360" cy="1747765"/>
          </a:xfrm>
          <a:prstGeom prst="rect">
            <a:avLst/>
          </a:prstGeom>
          <a:solidFill>
            <a:srgbClr val="EAF1FB"/>
          </a:solidFill>
          <a:ln/>
        </p:spPr>
        <p:txBody>
          <a:bodyPr wrap="square" lIns="137160" tIns="91440" rIns="137160" bIns="91440" anchor="t"/>
          <a:lstStyle/>
          <a:p>
            <a:pPr marL="171450" indent="-17145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16407A"/>
                </a:solidFill>
                <a:latin typeface="Times New Roman"/>
              </a:rPr>
              <a:t>Every screen renders from real database records, not mock data</a:t>
            </a:r>
          </a:p>
          <a:p>
            <a:pPr marL="171450" indent="-17145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16407A"/>
                </a:solidFill>
                <a:latin typeface="Times New Roman"/>
              </a:rPr>
              <a:t>Skills, projects and internships are parsed directly from the uploaded resume (M1)</a:t>
            </a:r>
          </a:p>
          <a:p>
            <a:pPr marL="171450" indent="-17145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16407A"/>
                </a:solidFill>
                <a:latin typeface="Times New Roman"/>
              </a:rPr>
              <a:t>Questions come from the LLM, with a validated question bank and resume templates as fallback (M2)</a:t>
            </a:r>
          </a:p>
          <a:p>
            <a:pPr marL="171450" indent="-171450">
              <a:spcAft>
                <a:spcPts val="800"/>
              </a:spcAft>
              <a:buSzPct val="100000"/>
              <a:buChar char="▪"/>
            </a:pPr>
            <a:r>
              <a:rPr lang="en-US" sz="1050" dirty="0">
                <a:solidFill>
                  <a:srgbClr val="16407A"/>
                </a:solidFill>
                <a:latin typeface="Times New Roman"/>
              </a:rPr>
              <a:t>Answers are scored by the upgraded rubric + AI grading (M3)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3CEAA-5803-22B2-0B91-290E94116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947672"/>
            <a:ext cx="3529899" cy="22940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C03BDF-86DF-AF6E-6FEC-946285C035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4249" y="1997940"/>
            <a:ext cx="3529900" cy="196347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5001EC0D-AEE2-ECB6-037F-EAAB3FDF3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>
            <a:extLst>
              <a:ext uri="{FF2B5EF4-FFF2-40B4-BE49-F238E27FC236}">
                <a16:creationId xmlns:a16="http://schemas.microsoft.com/office/drawing/2014/main" id="{7AD05775-47C1-3DA9-AD33-F2E983FF03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Dashboard Overview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515A64-B562-C87E-9E29-B012DEF58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3747993"/>
            <a:ext cx="4086824" cy="24478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DC5429-4C8C-5122-6B54-5AA174143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158766"/>
            <a:ext cx="4105741" cy="25892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3E1F1A-1259-FC23-2321-ED41B5ABC9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9820" y="1158765"/>
            <a:ext cx="4313273" cy="25892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931BB4-BF4B-E3A4-D94B-022C0D7E05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9819" y="3607015"/>
            <a:ext cx="4313273" cy="272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7013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2393A353-1122-A16A-732E-0F8183B40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>
            <a:extLst>
              <a:ext uri="{FF2B5EF4-FFF2-40B4-BE49-F238E27FC236}">
                <a16:creationId xmlns:a16="http://schemas.microsoft.com/office/drawing/2014/main" id="{30D52F37-62B8-2A8D-0934-29D7B2D685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Dashboard Overview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354B66-3938-EFD5-492E-2DC942B94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278040"/>
            <a:ext cx="4646394" cy="2584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0898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2393A353-1122-A16A-732E-0F8183B40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>
            <a:extLst>
              <a:ext uri="{FF2B5EF4-FFF2-40B4-BE49-F238E27FC236}">
                <a16:creationId xmlns:a16="http://schemas.microsoft.com/office/drawing/2014/main" id="{30D52F37-62B8-2A8D-0934-29D7B2D685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Product Walkthrough — Latest Features</a:t>
            </a:r>
            <a:endParaRPr dirty="0"/>
          </a:p>
        </p:txBody>
      </p:sp>
      <p:pic>
        <p:nvPicPr>
          <p:cNvPr id="124" name="Picture 123" descr="s_intervie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27" y="1234440"/>
            <a:ext cx="3707065" cy="1965960"/>
          </a:xfrm>
          <a:prstGeom prst="rect">
            <a:avLst/>
          </a:prstGeom>
          <a:ln w="9525">
            <a:solidFill>
              <a:srgbClr val="D5DDEA"/>
            </a:solidFill>
          </a:ln>
        </p:spPr>
      </p:pic>
      <p:sp>
        <p:nvSpPr>
          <p:cNvPr id="125" name="TextBox 124"/>
          <p:cNvSpPr txBox="1"/>
          <p:nvPr/>
        </p:nvSpPr>
        <p:spPr>
          <a:xfrm>
            <a:off x="411480" y="3236976"/>
            <a:ext cx="402336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b="1">
                <a:solidFill>
                  <a:srgbClr val="0F3060"/>
                </a:solidFill>
                <a:latin typeface="Times New Roman"/>
              </a:rPr>
              <a:t>Interview mode with topic picker (M2)</a:t>
            </a:r>
          </a:p>
        </p:txBody>
      </p:sp>
      <p:pic>
        <p:nvPicPr>
          <p:cNvPr id="126" name="Picture 125" descr="s_feedbac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8096" y="1234440"/>
            <a:ext cx="3634047" cy="1965960"/>
          </a:xfrm>
          <a:prstGeom prst="rect">
            <a:avLst/>
          </a:prstGeom>
          <a:ln w="9525">
            <a:solidFill>
              <a:srgbClr val="D5DDEA"/>
            </a:solidFill>
          </a:ln>
        </p:spPr>
      </p:pic>
      <p:sp>
        <p:nvSpPr>
          <p:cNvPr id="127" name="TextBox 126"/>
          <p:cNvSpPr txBox="1"/>
          <p:nvPr/>
        </p:nvSpPr>
        <p:spPr>
          <a:xfrm>
            <a:off x="4663440" y="3236976"/>
            <a:ext cx="402336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b="1">
                <a:solidFill>
                  <a:srgbClr val="0F3060"/>
                </a:solidFill>
                <a:latin typeface="Times New Roman"/>
              </a:rPr>
              <a:t>Feedback: key points, strengths and next steps (M3)</a:t>
            </a:r>
          </a:p>
        </p:txBody>
      </p:sp>
      <p:pic>
        <p:nvPicPr>
          <p:cNvPr id="128" name="Picture 127" descr="s_ds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1810" y="3657600"/>
            <a:ext cx="2422698" cy="1965960"/>
          </a:xfrm>
          <a:prstGeom prst="rect">
            <a:avLst/>
          </a:prstGeom>
          <a:ln w="9525">
            <a:solidFill>
              <a:srgbClr val="D5DDEA"/>
            </a:solidFill>
          </a:ln>
        </p:spPr>
      </p:pic>
      <p:sp>
        <p:nvSpPr>
          <p:cNvPr id="129" name="TextBox 128"/>
          <p:cNvSpPr txBox="1"/>
          <p:nvPr/>
        </p:nvSpPr>
        <p:spPr>
          <a:xfrm>
            <a:off x="411480" y="5660136"/>
            <a:ext cx="402336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b="1">
                <a:solidFill>
                  <a:srgbClr val="0F3060"/>
                </a:solidFill>
                <a:latin typeface="Times New Roman"/>
              </a:rPr>
              <a:t>DSA practice with live test results</a:t>
            </a:r>
          </a:p>
        </p:txBody>
      </p:sp>
      <p:pic>
        <p:nvPicPr>
          <p:cNvPr id="130" name="Picture 129" descr="s_dashboard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7671" y="3657600"/>
            <a:ext cx="3114897" cy="1965960"/>
          </a:xfrm>
          <a:prstGeom prst="rect">
            <a:avLst/>
          </a:prstGeom>
          <a:ln w="9525">
            <a:solidFill>
              <a:srgbClr val="D5DDEA"/>
            </a:solidFill>
          </a:ln>
        </p:spPr>
      </p:pic>
      <p:sp>
        <p:nvSpPr>
          <p:cNvPr id="131" name="TextBox 130"/>
          <p:cNvSpPr txBox="1"/>
          <p:nvPr/>
        </p:nvSpPr>
        <p:spPr>
          <a:xfrm>
            <a:off x="4663440" y="5660136"/>
            <a:ext cx="402336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100" b="1">
                <a:solidFill>
                  <a:srgbClr val="0F3060"/>
                </a:solidFill>
                <a:latin typeface="Times New Roman"/>
              </a:rPr>
              <a:t>Dashboard: proficiency and focus areas (M4, M5)</a:t>
            </a:r>
          </a:p>
        </p:txBody>
      </p:sp>
    </p:spTree>
    <p:extLst>
      <p:ext uri="{BB962C8B-B14F-4D97-AF65-F5344CB8AC3E}">
        <p14:creationId xmlns:p14="http://schemas.microsoft.com/office/powerpoint/2010/main" val="32070898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"/>
          <p:cNvSpPr txBox="1">
            <a:spLocks noGrp="1"/>
          </p:cNvSpPr>
          <p:nvPr>
            <p:ph type="title"/>
          </p:nvPr>
        </p:nvSpPr>
        <p:spPr>
          <a:xfrm>
            <a:off x="311700" y="544876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Timeline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7"/>
          <p:cNvSpPr txBox="1">
            <a:spLocks noGrp="1"/>
          </p:cNvSpPr>
          <p:nvPr>
            <p:ph type="body" idx="1"/>
          </p:nvPr>
        </p:nvSpPr>
        <p:spPr>
          <a:xfrm>
            <a:off x="311700" y="1536976"/>
            <a:ext cx="8940455" cy="4391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250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250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2500">
              <a:latin typeface="Book Antiqua"/>
              <a:ea typeface="Book Antiqua"/>
              <a:cs typeface="Book Antiqua"/>
              <a:sym typeface="Book Antiqua"/>
            </a:endParaRPr>
          </a:p>
          <a:p>
            <a:pPr marL="889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25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0D4DCB19-DA8F-A745-F2D7-C9C460A56602}"/>
              </a:ext>
            </a:extLst>
          </p:cNvPr>
          <p:cNvSpPr/>
          <p:nvPr/>
        </p:nvSpPr>
        <p:spPr>
          <a:xfrm>
            <a:off x="1143000" y="3429000"/>
            <a:ext cx="7325997" cy="0"/>
          </a:xfrm>
          <a:prstGeom prst="line">
            <a:avLst/>
          </a:prstGeom>
          <a:noFill/>
          <a:ln w="31750">
            <a:solidFill>
              <a:srgbClr val="2E6DB4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01" name="Shape 4">
            <a:extLst>
              <a:ext uri="{FF2B5EF4-FFF2-40B4-BE49-F238E27FC236}">
                <a16:creationId xmlns:a16="http://schemas.microsoft.com/office/drawing/2014/main" id="{A964B4A6-7659-68FF-8274-99ABE16ACCCE}"/>
              </a:ext>
            </a:extLst>
          </p:cNvPr>
          <p:cNvSpPr/>
          <p:nvPr/>
        </p:nvSpPr>
        <p:spPr>
          <a:xfrm>
            <a:off x="1053846" y="3339846"/>
            <a:ext cx="178308" cy="178308"/>
          </a:xfrm>
          <a:prstGeom prst="ellipse">
            <a:avLst/>
          </a:prstGeom>
          <a:solidFill>
            <a:srgbClr val="2E8B5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02" name="Shape 5">
            <a:extLst>
              <a:ext uri="{FF2B5EF4-FFF2-40B4-BE49-F238E27FC236}">
                <a16:creationId xmlns:a16="http://schemas.microsoft.com/office/drawing/2014/main" id="{4185B6EC-63CB-A1F0-F7B5-B97F91369ECC}"/>
              </a:ext>
            </a:extLst>
          </p:cNvPr>
          <p:cNvSpPr/>
          <p:nvPr/>
        </p:nvSpPr>
        <p:spPr>
          <a:xfrm>
            <a:off x="1143000" y="3017520"/>
            <a:ext cx="0" cy="411480"/>
          </a:xfrm>
          <a:prstGeom prst="line">
            <a:avLst/>
          </a:prstGeom>
          <a:noFill/>
          <a:ln w="12700">
            <a:solidFill>
              <a:srgbClr val="B9CBE3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03" name="Shape 6">
            <a:extLst>
              <a:ext uri="{FF2B5EF4-FFF2-40B4-BE49-F238E27FC236}">
                <a16:creationId xmlns:a16="http://schemas.microsoft.com/office/drawing/2014/main" id="{FB0D8EB0-17E7-174C-8A42-CC322FA80AC6}"/>
              </a:ext>
            </a:extLst>
          </p:cNvPr>
          <p:cNvSpPr/>
          <p:nvPr/>
        </p:nvSpPr>
        <p:spPr>
          <a:xfrm>
            <a:off x="668000" y="2125980"/>
            <a:ext cx="950000" cy="891540"/>
          </a:xfrm>
          <a:prstGeom prst="roundRect">
            <a:avLst>
              <a:gd name="adj" fmla="val 6154"/>
            </a:avLst>
          </a:prstGeom>
          <a:solidFill>
            <a:srgbClr val="E7F3EC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04" name="Text 7">
            <a:extLst>
              <a:ext uri="{FF2B5EF4-FFF2-40B4-BE49-F238E27FC236}">
                <a16:creationId xmlns:a16="http://schemas.microsoft.com/office/drawing/2014/main" id="{1C0C283E-356E-2E56-6C70-EDCA2488D727}"/>
              </a:ext>
            </a:extLst>
          </p:cNvPr>
          <p:cNvSpPr/>
          <p:nvPr/>
        </p:nvSpPr>
        <p:spPr>
          <a:xfrm>
            <a:off x="668000" y="2194560"/>
            <a:ext cx="950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</a:t>
            </a:r>
            <a:endParaRPr lang="en-US" sz="750" dirty="0"/>
          </a:p>
        </p:txBody>
      </p:sp>
      <p:sp>
        <p:nvSpPr>
          <p:cNvPr id="1005" name="Text 8">
            <a:extLst>
              <a:ext uri="{FF2B5EF4-FFF2-40B4-BE49-F238E27FC236}">
                <a16:creationId xmlns:a16="http://schemas.microsoft.com/office/drawing/2014/main" id="{0B36B2B4-CA2E-6360-A76E-A9A1D0A0C31C}"/>
              </a:ext>
            </a:extLst>
          </p:cNvPr>
          <p:cNvSpPr/>
          <p:nvPr/>
        </p:nvSpPr>
        <p:spPr>
          <a:xfrm>
            <a:off x="702290" y="2400300"/>
            <a:ext cx="88142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900"/>
              </a:lnSpc>
            </a:pPr>
            <a:r>
              <a:rPr lang="en-US" sz="713" dirty="0">
                <a:solidFill>
                  <a:srgbClr val="0F3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 &amp;</a:t>
            </a:r>
            <a:endParaRPr lang="en-US" sz="713" dirty="0"/>
          </a:p>
          <a:p>
            <a:pPr algn="ctr">
              <a:lnSpc>
                <a:spcPts val="900"/>
              </a:lnSpc>
            </a:pPr>
            <a:r>
              <a:rPr lang="en-US" sz="713" dirty="0">
                <a:solidFill>
                  <a:srgbClr val="0F3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Analysis</a:t>
            </a:r>
            <a:endParaRPr lang="en-US" sz="713" dirty="0"/>
          </a:p>
        </p:txBody>
      </p:sp>
      <p:sp>
        <p:nvSpPr>
          <p:cNvPr id="1006" name="Shape 9">
            <a:extLst>
              <a:ext uri="{FF2B5EF4-FFF2-40B4-BE49-F238E27FC236}">
                <a16:creationId xmlns:a16="http://schemas.microsoft.com/office/drawing/2014/main" id="{69ED9EAE-F2C1-333A-3BF0-114B85D27839}"/>
              </a:ext>
            </a:extLst>
          </p:cNvPr>
          <p:cNvSpPr/>
          <p:nvPr/>
        </p:nvSpPr>
        <p:spPr>
          <a:xfrm>
            <a:off x="2100417" y="3339846"/>
            <a:ext cx="178308" cy="178308"/>
          </a:xfrm>
          <a:prstGeom prst="ellipse">
            <a:avLst/>
          </a:prstGeom>
          <a:solidFill>
            <a:srgbClr val="2E8B5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07" name="Shape 10">
            <a:extLst>
              <a:ext uri="{FF2B5EF4-FFF2-40B4-BE49-F238E27FC236}">
                <a16:creationId xmlns:a16="http://schemas.microsoft.com/office/drawing/2014/main" id="{43C7B971-1C4A-C799-06F9-EF8A86B338C5}"/>
              </a:ext>
            </a:extLst>
          </p:cNvPr>
          <p:cNvSpPr/>
          <p:nvPr/>
        </p:nvSpPr>
        <p:spPr>
          <a:xfrm>
            <a:off x="2189571" y="3429000"/>
            <a:ext cx="0" cy="342900"/>
          </a:xfrm>
          <a:prstGeom prst="line">
            <a:avLst/>
          </a:prstGeom>
          <a:noFill/>
          <a:ln w="12700">
            <a:solidFill>
              <a:srgbClr val="B9CBE3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08" name="Shape 11">
            <a:extLst>
              <a:ext uri="{FF2B5EF4-FFF2-40B4-BE49-F238E27FC236}">
                <a16:creationId xmlns:a16="http://schemas.microsoft.com/office/drawing/2014/main" id="{71FED3B6-EC66-4DC6-7C7D-908DDE53CBA7}"/>
              </a:ext>
            </a:extLst>
          </p:cNvPr>
          <p:cNvSpPr/>
          <p:nvPr/>
        </p:nvSpPr>
        <p:spPr>
          <a:xfrm>
            <a:off x="1714571" y="3771900"/>
            <a:ext cx="950000" cy="891540"/>
          </a:xfrm>
          <a:prstGeom prst="roundRect">
            <a:avLst>
              <a:gd name="adj" fmla="val 6154"/>
            </a:avLst>
          </a:prstGeom>
          <a:solidFill>
            <a:srgbClr val="E7F3EC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09" name="Text 12">
            <a:extLst>
              <a:ext uri="{FF2B5EF4-FFF2-40B4-BE49-F238E27FC236}">
                <a16:creationId xmlns:a16="http://schemas.microsoft.com/office/drawing/2014/main" id="{D9444101-A79A-C8AE-1625-598E9262B34D}"/>
              </a:ext>
            </a:extLst>
          </p:cNvPr>
          <p:cNvSpPr/>
          <p:nvPr/>
        </p:nvSpPr>
        <p:spPr>
          <a:xfrm>
            <a:off x="1714571" y="3840480"/>
            <a:ext cx="950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750" dirty="0"/>
          </a:p>
        </p:txBody>
      </p:sp>
      <p:sp>
        <p:nvSpPr>
          <p:cNvPr id="1010" name="Text 13">
            <a:extLst>
              <a:ext uri="{FF2B5EF4-FFF2-40B4-BE49-F238E27FC236}">
                <a16:creationId xmlns:a16="http://schemas.microsoft.com/office/drawing/2014/main" id="{2022C557-9ED7-9B3B-1361-C3AE5DAA52E0}"/>
              </a:ext>
            </a:extLst>
          </p:cNvPr>
          <p:cNvSpPr/>
          <p:nvPr/>
        </p:nvSpPr>
        <p:spPr>
          <a:xfrm>
            <a:off x="1748861" y="4046220"/>
            <a:ext cx="88142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900"/>
              </a:lnSpc>
            </a:pPr>
            <a:r>
              <a:rPr lang="en-US" sz="713" dirty="0">
                <a:solidFill>
                  <a:srgbClr val="0F3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 &amp;</a:t>
            </a:r>
            <a:endParaRPr lang="en-US" sz="713" dirty="0"/>
          </a:p>
          <a:p>
            <a:pPr algn="ctr">
              <a:lnSpc>
                <a:spcPts val="900"/>
              </a:lnSpc>
            </a:pPr>
            <a:r>
              <a:rPr lang="en-US" sz="713" dirty="0">
                <a:solidFill>
                  <a:srgbClr val="0F3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Planning</a:t>
            </a:r>
            <a:endParaRPr lang="en-US" sz="713" dirty="0"/>
          </a:p>
        </p:txBody>
      </p:sp>
      <p:sp>
        <p:nvSpPr>
          <p:cNvPr id="1011" name="Shape 4">
            <a:extLst>
              <a:ext uri="{FF2B5EF4-FFF2-40B4-BE49-F238E27FC236}">
                <a16:creationId xmlns:a16="http://schemas.microsoft.com/office/drawing/2014/main" id="{A964B4A6-7659-68FF-8274-99ABE16ACCCE}"/>
              </a:ext>
            </a:extLst>
          </p:cNvPr>
          <p:cNvSpPr/>
          <p:nvPr/>
        </p:nvSpPr>
        <p:spPr>
          <a:xfrm>
            <a:off x="3146988" y="3339846"/>
            <a:ext cx="178308" cy="178308"/>
          </a:xfrm>
          <a:prstGeom prst="ellipse">
            <a:avLst/>
          </a:prstGeom>
          <a:solidFill>
            <a:srgbClr val="2E8B5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12" name="Shape 5">
            <a:extLst>
              <a:ext uri="{FF2B5EF4-FFF2-40B4-BE49-F238E27FC236}">
                <a16:creationId xmlns:a16="http://schemas.microsoft.com/office/drawing/2014/main" id="{4185B6EC-63CB-A1F0-F7B5-B97F91369ECC}"/>
              </a:ext>
            </a:extLst>
          </p:cNvPr>
          <p:cNvSpPr/>
          <p:nvPr/>
        </p:nvSpPr>
        <p:spPr>
          <a:xfrm>
            <a:off x="3236142" y="3017520"/>
            <a:ext cx="0" cy="411480"/>
          </a:xfrm>
          <a:prstGeom prst="line">
            <a:avLst/>
          </a:prstGeom>
          <a:noFill/>
          <a:ln w="12700">
            <a:solidFill>
              <a:srgbClr val="B9CBE3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13" name="Shape 6">
            <a:extLst>
              <a:ext uri="{FF2B5EF4-FFF2-40B4-BE49-F238E27FC236}">
                <a16:creationId xmlns:a16="http://schemas.microsoft.com/office/drawing/2014/main" id="{FB0D8EB0-17E7-174C-8A42-CC322FA80AC6}"/>
              </a:ext>
            </a:extLst>
          </p:cNvPr>
          <p:cNvSpPr/>
          <p:nvPr/>
        </p:nvSpPr>
        <p:spPr>
          <a:xfrm>
            <a:off x="2761142" y="2125980"/>
            <a:ext cx="950000" cy="891540"/>
          </a:xfrm>
          <a:prstGeom prst="roundRect">
            <a:avLst>
              <a:gd name="adj" fmla="val 6154"/>
            </a:avLst>
          </a:prstGeom>
          <a:solidFill>
            <a:srgbClr val="E7F3EC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14" name="Text 7">
            <a:extLst>
              <a:ext uri="{FF2B5EF4-FFF2-40B4-BE49-F238E27FC236}">
                <a16:creationId xmlns:a16="http://schemas.microsoft.com/office/drawing/2014/main" id="{1C0C283E-356E-2E56-6C70-EDCA2488D727}"/>
              </a:ext>
            </a:extLst>
          </p:cNvPr>
          <p:cNvSpPr/>
          <p:nvPr/>
        </p:nvSpPr>
        <p:spPr>
          <a:xfrm>
            <a:off x="2761142" y="2194560"/>
            <a:ext cx="950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4-5</a:t>
            </a:r>
            <a:endParaRPr lang="en-US" sz="750" dirty="0"/>
          </a:p>
        </p:txBody>
      </p:sp>
      <p:sp>
        <p:nvSpPr>
          <p:cNvPr id="1015" name="Text 8">
            <a:extLst>
              <a:ext uri="{FF2B5EF4-FFF2-40B4-BE49-F238E27FC236}">
                <a16:creationId xmlns:a16="http://schemas.microsoft.com/office/drawing/2014/main" id="{0B36B2B4-CA2E-6360-A76E-A9A1D0A0C31C}"/>
              </a:ext>
            </a:extLst>
          </p:cNvPr>
          <p:cNvSpPr/>
          <p:nvPr/>
        </p:nvSpPr>
        <p:spPr>
          <a:xfrm>
            <a:off x="2795432" y="2400300"/>
            <a:ext cx="88142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900"/>
              </a:lnSpc>
            </a:pPr>
            <a:r>
              <a:rPr lang="en-US" sz="713" dirty="0">
                <a:solidFill>
                  <a:srgbClr val="0F3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— Resume /</a:t>
            </a:r>
            <a:endParaRPr lang="en-US" sz="713" dirty="0"/>
          </a:p>
          <a:p>
            <a:pPr algn="ctr">
              <a:lnSpc>
                <a:spcPts val="900"/>
              </a:lnSpc>
            </a:pPr>
            <a:r>
              <a:rPr lang="en-US" sz="713" dirty="0">
                <a:solidFill>
                  <a:srgbClr val="0F3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Parsing</a:t>
            </a:r>
            <a:endParaRPr lang="en-US" sz="713" dirty="0"/>
          </a:p>
        </p:txBody>
      </p:sp>
      <p:sp>
        <p:nvSpPr>
          <p:cNvPr id="1016" name="Shape 9">
            <a:extLst>
              <a:ext uri="{FF2B5EF4-FFF2-40B4-BE49-F238E27FC236}">
                <a16:creationId xmlns:a16="http://schemas.microsoft.com/office/drawing/2014/main" id="{69ED9EAE-F2C1-333A-3BF0-114B85D27839}"/>
              </a:ext>
            </a:extLst>
          </p:cNvPr>
          <p:cNvSpPr/>
          <p:nvPr/>
        </p:nvSpPr>
        <p:spPr>
          <a:xfrm>
            <a:off x="4193559" y="3339846"/>
            <a:ext cx="178308" cy="178308"/>
          </a:xfrm>
          <a:prstGeom prst="ellipse">
            <a:avLst/>
          </a:prstGeom>
          <a:solidFill>
            <a:srgbClr val="2E8B5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17" name="Shape 10">
            <a:extLst>
              <a:ext uri="{FF2B5EF4-FFF2-40B4-BE49-F238E27FC236}">
                <a16:creationId xmlns:a16="http://schemas.microsoft.com/office/drawing/2014/main" id="{43C7B971-1C4A-C799-06F9-EF8A86B338C5}"/>
              </a:ext>
            </a:extLst>
          </p:cNvPr>
          <p:cNvSpPr/>
          <p:nvPr/>
        </p:nvSpPr>
        <p:spPr>
          <a:xfrm>
            <a:off x="4282713" y="3429000"/>
            <a:ext cx="0" cy="342900"/>
          </a:xfrm>
          <a:prstGeom prst="line">
            <a:avLst/>
          </a:prstGeom>
          <a:noFill/>
          <a:ln w="12700">
            <a:solidFill>
              <a:srgbClr val="B9CBE3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18" name="Shape 11">
            <a:extLst>
              <a:ext uri="{FF2B5EF4-FFF2-40B4-BE49-F238E27FC236}">
                <a16:creationId xmlns:a16="http://schemas.microsoft.com/office/drawing/2014/main" id="{71FED3B6-EC66-4DC6-7C7D-908DDE53CBA7}"/>
              </a:ext>
            </a:extLst>
          </p:cNvPr>
          <p:cNvSpPr/>
          <p:nvPr/>
        </p:nvSpPr>
        <p:spPr>
          <a:xfrm>
            <a:off x="3807713" y="3771900"/>
            <a:ext cx="950000" cy="891540"/>
          </a:xfrm>
          <a:prstGeom prst="roundRect">
            <a:avLst>
              <a:gd name="adj" fmla="val 6154"/>
            </a:avLst>
          </a:prstGeom>
          <a:solidFill>
            <a:srgbClr val="E7F3EC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19" name="Text 12">
            <a:extLst>
              <a:ext uri="{FF2B5EF4-FFF2-40B4-BE49-F238E27FC236}">
                <a16:creationId xmlns:a16="http://schemas.microsoft.com/office/drawing/2014/main" id="{D9444101-A79A-C8AE-1625-598E9262B34D}"/>
              </a:ext>
            </a:extLst>
          </p:cNvPr>
          <p:cNvSpPr/>
          <p:nvPr/>
        </p:nvSpPr>
        <p:spPr>
          <a:xfrm>
            <a:off x="3807713" y="3840480"/>
            <a:ext cx="950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6-7</a:t>
            </a:r>
            <a:endParaRPr lang="en-US" sz="750" dirty="0"/>
          </a:p>
        </p:txBody>
      </p:sp>
      <p:sp>
        <p:nvSpPr>
          <p:cNvPr id="1020" name="Text 13">
            <a:extLst>
              <a:ext uri="{FF2B5EF4-FFF2-40B4-BE49-F238E27FC236}">
                <a16:creationId xmlns:a16="http://schemas.microsoft.com/office/drawing/2014/main" id="{2022C557-9ED7-9B3B-1361-C3AE5DAA52E0}"/>
              </a:ext>
            </a:extLst>
          </p:cNvPr>
          <p:cNvSpPr/>
          <p:nvPr/>
        </p:nvSpPr>
        <p:spPr>
          <a:xfrm>
            <a:off x="3842003" y="4046220"/>
            <a:ext cx="88142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900"/>
              </a:lnSpc>
            </a:pPr>
            <a:r>
              <a:rPr lang="en-US" sz="713" dirty="0">
                <a:solidFill>
                  <a:srgbClr val="0F3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— Question</a:t>
            </a:r>
            <a:endParaRPr lang="en-US" sz="713" dirty="0"/>
          </a:p>
          <a:p>
            <a:pPr algn="ctr">
              <a:lnSpc>
                <a:spcPts val="900"/>
              </a:lnSpc>
            </a:pPr>
            <a:r>
              <a:rPr lang="en-US" sz="713" dirty="0">
                <a:solidFill>
                  <a:srgbClr val="0F3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713" dirty="0"/>
          </a:p>
        </p:txBody>
      </p:sp>
      <p:sp>
        <p:nvSpPr>
          <p:cNvPr id="1021" name="Shape 4">
            <a:extLst>
              <a:ext uri="{FF2B5EF4-FFF2-40B4-BE49-F238E27FC236}">
                <a16:creationId xmlns:a16="http://schemas.microsoft.com/office/drawing/2014/main" id="{A964B4A6-7659-68FF-8274-99ABE16ACCCE}"/>
              </a:ext>
            </a:extLst>
          </p:cNvPr>
          <p:cNvSpPr/>
          <p:nvPr/>
        </p:nvSpPr>
        <p:spPr>
          <a:xfrm>
            <a:off x="5240130" y="3339846"/>
            <a:ext cx="178308" cy="178308"/>
          </a:xfrm>
          <a:prstGeom prst="ellipse">
            <a:avLst/>
          </a:prstGeom>
          <a:solidFill>
            <a:srgbClr val="2E8B5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22" name="Shape 5">
            <a:extLst>
              <a:ext uri="{FF2B5EF4-FFF2-40B4-BE49-F238E27FC236}">
                <a16:creationId xmlns:a16="http://schemas.microsoft.com/office/drawing/2014/main" id="{4185B6EC-63CB-A1F0-F7B5-B97F91369ECC}"/>
              </a:ext>
            </a:extLst>
          </p:cNvPr>
          <p:cNvSpPr/>
          <p:nvPr/>
        </p:nvSpPr>
        <p:spPr>
          <a:xfrm>
            <a:off x="5329284" y="3017520"/>
            <a:ext cx="0" cy="411480"/>
          </a:xfrm>
          <a:prstGeom prst="line">
            <a:avLst/>
          </a:prstGeom>
          <a:noFill/>
          <a:ln w="12700">
            <a:solidFill>
              <a:srgbClr val="B9CBE3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23" name="Shape 6">
            <a:extLst>
              <a:ext uri="{FF2B5EF4-FFF2-40B4-BE49-F238E27FC236}">
                <a16:creationId xmlns:a16="http://schemas.microsoft.com/office/drawing/2014/main" id="{FB0D8EB0-17E7-174C-8A42-CC322FA80AC6}"/>
              </a:ext>
            </a:extLst>
          </p:cNvPr>
          <p:cNvSpPr/>
          <p:nvPr/>
        </p:nvSpPr>
        <p:spPr>
          <a:xfrm>
            <a:off x="4854284" y="2125980"/>
            <a:ext cx="950000" cy="891540"/>
          </a:xfrm>
          <a:prstGeom prst="roundRect">
            <a:avLst>
              <a:gd name="adj" fmla="val 6154"/>
            </a:avLst>
          </a:prstGeom>
          <a:solidFill>
            <a:srgbClr val="E7F3EC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24" name="Text 7">
            <a:extLst>
              <a:ext uri="{FF2B5EF4-FFF2-40B4-BE49-F238E27FC236}">
                <a16:creationId xmlns:a16="http://schemas.microsoft.com/office/drawing/2014/main" id="{1C0C283E-356E-2E56-6C70-EDCA2488D727}"/>
              </a:ext>
            </a:extLst>
          </p:cNvPr>
          <p:cNvSpPr/>
          <p:nvPr/>
        </p:nvSpPr>
        <p:spPr>
          <a:xfrm>
            <a:off x="4854284" y="2194560"/>
            <a:ext cx="950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8-10</a:t>
            </a:r>
            <a:endParaRPr lang="en-US" sz="750" dirty="0"/>
          </a:p>
        </p:txBody>
      </p:sp>
      <p:sp>
        <p:nvSpPr>
          <p:cNvPr id="1025" name="Text 8">
            <a:extLst>
              <a:ext uri="{FF2B5EF4-FFF2-40B4-BE49-F238E27FC236}">
                <a16:creationId xmlns:a16="http://schemas.microsoft.com/office/drawing/2014/main" id="{0B36B2B4-CA2E-6360-A76E-A9A1D0A0C31C}"/>
              </a:ext>
            </a:extLst>
          </p:cNvPr>
          <p:cNvSpPr/>
          <p:nvPr/>
        </p:nvSpPr>
        <p:spPr>
          <a:xfrm>
            <a:off x="4888574" y="2400300"/>
            <a:ext cx="88142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900"/>
              </a:lnSpc>
            </a:pPr>
            <a:r>
              <a:rPr lang="en-US" sz="713" dirty="0">
                <a:solidFill>
                  <a:srgbClr val="0F3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— Evaluation &amp;</a:t>
            </a:r>
            <a:endParaRPr lang="en-US" sz="713" dirty="0"/>
          </a:p>
          <a:p>
            <a:pPr algn="ctr">
              <a:lnSpc>
                <a:spcPts val="900"/>
              </a:lnSpc>
            </a:pPr>
            <a:r>
              <a:rPr lang="en-US" sz="713" dirty="0">
                <a:solidFill>
                  <a:srgbClr val="0F3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(High Risk)</a:t>
            </a:r>
            <a:endParaRPr lang="en-US" sz="713" dirty="0"/>
          </a:p>
        </p:txBody>
      </p:sp>
      <p:sp>
        <p:nvSpPr>
          <p:cNvPr id="1026" name="Shape 9">
            <a:extLst>
              <a:ext uri="{FF2B5EF4-FFF2-40B4-BE49-F238E27FC236}">
                <a16:creationId xmlns:a16="http://schemas.microsoft.com/office/drawing/2014/main" id="{69ED9EAE-F2C1-333A-3BF0-114B85D27839}"/>
              </a:ext>
            </a:extLst>
          </p:cNvPr>
          <p:cNvSpPr/>
          <p:nvPr/>
        </p:nvSpPr>
        <p:spPr>
          <a:xfrm>
            <a:off x="6286701" y="3339846"/>
            <a:ext cx="178308" cy="178308"/>
          </a:xfrm>
          <a:prstGeom prst="ellipse">
            <a:avLst/>
          </a:prstGeom>
          <a:solidFill>
            <a:srgbClr val="2E8B5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27" name="Shape 10">
            <a:extLst>
              <a:ext uri="{FF2B5EF4-FFF2-40B4-BE49-F238E27FC236}">
                <a16:creationId xmlns:a16="http://schemas.microsoft.com/office/drawing/2014/main" id="{43C7B971-1C4A-C799-06F9-EF8A86B338C5}"/>
              </a:ext>
            </a:extLst>
          </p:cNvPr>
          <p:cNvSpPr/>
          <p:nvPr/>
        </p:nvSpPr>
        <p:spPr>
          <a:xfrm>
            <a:off x="6375855" y="3429000"/>
            <a:ext cx="0" cy="342900"/>
          </a:xfrm>
          <a:prstGeom prst="line">
            <a:avLst/>
          </a:prstGeom>
          <a:noFill/>
          <a:ln w="12700">
            <a:solidFill>
              <a:srgbClr val="B9CBE3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28" name="Shape 11">
            <a:extLst>
              <a:ext uri="{FF2B5EF4-FFF2-40B4-BE49-F238E27FC236}">
                <a16:creationId xmlns:a16="http://schemas.microsoft.com/office/drawing/2014/main" id="{71FED3B6-EC66-4DC6-7C7D-908DDE53CBA7}"/>
              </a:ext>
            </a:extLst>
          </p:cNvPr>
          <p:cNvSpPr/>
          <p:nvPr/>
        </p:nvSpPr>
        <p:spPr>
          <a:xfrm>
            <a:off x="5900855" y="3771900"/>
            <a:ext cx="950000" cy="891540"/>
          </a:xfrm>
          <a:prstGeom prst="roundRect">
            <a:avLst>
              <a:gd name="adj" fmla="val 6154"/>
            </a:avLst>
          </a:prstGeom>
          <a:solidFill>
            <a:srgbClr val="E7F3EC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29" name="Text 12">
            <a:extLst>
              <a:ext uri="{FF2B5EF4-FFF2-40B4-BE49-F238E27FC236}">
                <a16:creationId xmlns:a16="http://schemas.microsoft.com/office/drawing/2014/main" id="{D9444101-A79A-C8AE-1625-598E9262B34D}"/>
              </a:ext>
            </a:extLst>
          </p:cNvPr>
          <p:cNvSpPr/>
          <p:nvPr/>
        </p:nvSpPr>
        <p:spPr>
          <a:xfrm>
            <a:off x="5900855" y="3840480"/>
            <a:ext cx="950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9-10</a:t>
            </a:r>
            <a:endParaRPr lang="en-US" sz="750" dirty="0"/>
          </a:p>
        </p:txBody>
      </p:sp>
      <p:sp>
        <p:nvSpPr>
          <p:cNvPr id="1030" name="Text 13">
            <a:extLst>
              <a:ext uri="{FF2B5EF4-FFF2-40B4-BE49-F238E27FC236}">
                <a16:creationId xmlns:a16="http://schemas.microsoft.com/office/drawing/2014/main" id="{2022C557-9ED7-9B3B-1361-C3AE5DAA52E0}"/>
              </a:ext>
            </a:extLst>
          </p:cNvPr>
          <p:cNvSpPr/>
          <p:nvPr/>
        </p:nvSpPr>
        <p:spPr>
          <a:xfrm>
            <a:off x="5935145" y="4046220"/>
            <a:ext cx="88142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900"/>
              </a:lnSpc>
            </a:pPr>
            <a:r>
              <a:rPr lang="en-US" sz="713" dirty="0">
                <a:solidFill>
                  <a:srgbClr val="0F3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— Analytics &amp;</a:t>
            </a:r>
            <a:endParaRPr lang="en-US" sz="713" dirty="0"/>
          </a:p>
          <a:p>
            <a:pPr algn="ctr">
              <a:lnSpc>
                <a:spcPts val="900"/>
              </a:lnSpc>
            </a:pPr>
            <a:r>
              <a:rPr lang="en-US" sz="713" dirty="0">
                <a:solidFill>
                  <a:srgbClr val="0F3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713" dirty="0"/>
          </a:p>
        </p:txBody>
      </p:sp>
      <p:sp>
        <p:nvSpPr>
          <p:cNvPr id="1031" name="Shape 4">
            <a:extLst>
              <a:ext uri="{FF2B5EF4-FFF2-40B4-BE49-F238E27FC236}">
                <a16:creationId xmlns:a16="http://schemas.microsoft.com/office/drawing/2014/main" id="{A964B4A6-7659-68FF-8274-99ABE16ACCCE}"/>
              </a:ext>
            </a:extLst>
          </p:cNvPr>
          <p:cNvSpPr/>
          <p:nvPr/>
        </p:nvSpPr>
        <p:spPr>
          <a:xfrm>
            <a:off x="7333272" y="3339846"/>
            <a:ext cx="178308" cy="178308"/>
          </a:xfrm>
          <a:prstGeom prst="ellipse">
            <a:avLst/>
          </a:prstGeom>
          <a:solidFill>
            <a:srgbClr val="2E8B5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32" name="Shape 5">
            <a:extLst>
              <a:ext uri="{FF2B5EF4-FFF2-40B4-BE49-F238E27FC236}">
                <a16:creationId xmlns:a16="http://schemas.microsoft.com/office/drawing/2014/main" id="{4185B6EC-63CB-A1F0-F7B5-B97F91369ECC}"/>
              </a:ext>
            </a:extLst>
          </p:cNvPr>
          <p:cNvSpPr/>
          <p:nvPr/>
        </p:nvSpPr>
        <p:spPr>
          <a:xfrm>
            <a:off x="7422426" y="3017520"/>
            <a:ext cx="0" cy="411480"/>
          </a:xfrm>
          <a:prstGeom prst="line">
            <a:avLst/>
          </a:prstGeom>
          <a:noFill/>
          <a:ln w="12700">
            <a:solidFill>
              <a:srgbClr val="B9CBE3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33" name="Shape 6">
            <a:extLst>
              <a:ext uri="{FF2B5EF4-FFF2-40B4-BE49-F238E27FC236}">
                <a16:creationId xmlns:a16="http://schemas.microsoft.com/office/drawing/2014/main" id="{FB0D8EB0-17E7-174C-8A42-CC322FA80AC6}"/>
              </a:ext>
            </a:extLst>
          </p:cNvPr>
          <p:cNvSpPr/>
          <p:nvPr/>
        </p:nvSpPr>
        <p:spPr>
          <a:xfrm>
            <a:off x="6947426" y="2125980"/>
            <a:ext cx="950000" cy="891540"/>
          </a:xfrm>
          <a:prstGeom prst="roundRect">
            <a:avLst>
              <a:gd name="adj" fmla="val 6154"/>
            </a:avLst>
          </a:prstGeom>
          <a:solidFill>
            <a:srgbClr val="E7F3EC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34" name="Text 7">
            <a:extLst>
              <a:ext uri="{FF2B5EF4-FFF2-40B4-BE49-F238E27FC236}">
                <a16:creationId xmlns:a16="http://schemas.microsoft.com/office/drawing/2014/main" id="{1C0C283E-356E-2E56-6C70-EDCA2488D727}"/>
              </a:ext>
            </a:extLst>
          </p:cNvPr>
          <p:cNvSpPr/>
          <p:nvPr/>
        </p:nvSpPr>
        <p:spPr>
          <a:xfrm>
            <a:off x="6947426" y="2194560"/>
            <a:ext cx="950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</a:t>
            </a:r>
            <a:endParaRPr lang="en-US" sz="750" dirty="0"/>
          </a:p>
        </p:txBody>
      </p:sp>
      <p:sp>
        <p:nvSpPr>
          <p:cNvPr id="1035" name="Text 8">
            <a:extLst>
              <a:ext uri="{FF2B5EF4-FFF2-40B4-BE49-F238E27FC236}">
                <a16:creationId xmlns:a16="http://schemas.microsoft.com/office/drawing/2014/main" id="{0B36B2B4-CA2E-6360-A76E-A9A1D0A0C31C}"/>
              </a:ext>
            </a:extLst>
          </p:cNvPr>
          <p:cNvSpPr/>
          <p:nvPr/>
        </p:nvSpPr>
        <p:spPr>
          <a:xfrm>
            <a:off x="6981716" y="2400300"/>
            <a:ext cx="88142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900"/>
              </a:lnSpc>
            </a:pPr>
            <a:r>
              <a:rPr lang="en-US" sz="713" dirty="0">
                <a:solidFill>
                  <a:srgbClr val="0F3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&amp;</a:t>
            </a:r>
            <a:endParaRPr lang="en-US" sz="713" dirty="0"/>
          </a:p>
          <a:p>
            <a:pPr algn="ctr">
              <a:lnSpc>
                <a:spcPts val="900"/>
              </a:lnSpc>
            </a:pPr>
            <a:r>
              <a:rPr lang="en-US" sz="713" dirty="0">
                <a:solidFill>
                  <a:srgbClr val="0F3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Testing</a:t>
            </a:r>
            <a:endParaRPr lang="en-US" sz="713" dirty="0"/>
          </a:p>
        </p:txBody>
      </p:sp>
      <p:sp>
        <p:nvSpPr>
          <p:cNvPr id="1036" name="Shape 9">
            <a:extLst>
              <a:ext uri="{FF2B5EF4-FFF2-40B4-BE49-F238E27FC236}">
                <a16:creationId xmlns:a16="http://schemas.microsoft.com/office/drawing/2014/main" id="{69ED9EAE-F2C1-333A-3BF0-114B85D27839}"/>
              </a:ext>
            </a:extLst>
          </p:cNvPr>
          <p:cNvSpPr/>
          <p:nvPr/>
        </p:nvSpPr>
        <p:spPr>
          <a:xfrm>
            <a:off x="8379843" y="3339846"/>
            <a:ext cx="178308" cy="178308"/>
          </a:xfrm>
          <a:prstGeom prst="ellipse">
            <a:avLst/>
          </a:prstGeom>
          <a:solidFill>
            <a:srgbClr val="C98A1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37" name="Shape 10">
            <a:extLst>
              <a:ext uri="{FF2B5EF4-FFF2-40B4-BE49-F238E27FC236}">
                <a16:creationId xmlns:a16="http://schemas.microsoft.com/office/drawing/2014/main" id="{43C7B971-1C4A-C799-06F9-EF8A86B338C5}"/>
              </a:ext>
            </a:extLst>
          </p:cNvPr>
          <p:cNvSpPr/>
          <p:nvPr/>
        </p:nvSpPr>
        <p:spPr>
          <a:xfrm>
            <a:off x="8468997" y="3429000"/>
            <a:ext cx="0" cy="342900"/>
          </a:xfrm>
          <a:prstGeom prst="line">
            <a:avLst/>
          </a:prstGeom>
          <a:noFill/>
          <a:ln w="12700">
            <a:solidFill>
              <a:srgbClr val="B9CBE3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38" name="Shape 11">
            <a:extLst>
              <a:ext uri="{FF2B5EF4-FFF2-40B4-BE49-F238E27FC236}">
                <a16:creationId xmlns:a16="http://schemas.microsoft.com/office/drawing/2014/main" id="{71FED3B6-EC66-4DC6-7C7D-908DDE53CBA7}"/>
              </a:ext>
            </a:extLst>
          </p:cNvPr>
          <p:cNvSpPr/>
          <p:nvPr/>
        </p:nvSpPr>
        <p:spPr>
          <a:xfrm>
            <a:off x="7993997" y="3771900"/>
            <a:ext cx="950000" cy="891540"/>
          </a:xfrm>
          <a:prstGeom prst="roundRect">
            <a:avLst>
              <a:gd name="adj" fmla="val 6154"/>
            </a:avLst>
          </a:prstGeom>
          <a:solidFill>
            <a:srgbClr val="FBF1E0"/>
          </a:solidFill>
          <a:ln w="12700">
            <a:solidFill>
              <a:srgbClr val="C98A1E"/>
            </a:solidFill>
            <a:prstDash val="solid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39" name="Text 12">
            <a:extLst>
              <a:ext uri="{FF2B5EF4-FFF2-40B4-BE49-F238E27FC236}">
                <a16:creationId xmlns:a16="http://schemas.microsoft.com/office/drawing/2014/main" id="{D9444101-A79A-C8AE-1625-598E9262B34D}"/>
              </a:ext>
            </a:extLst>
          </p:cNvPr>
          <p:cNvSpPr/>
          <p:nvPr/>
        </p:nvSpPr>
        <p:spPr>
          <a:xfrm>
            <a:off x="7993997" y="3840480"/>
            <a:ext cx="950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C98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12</a:t>
            </a:r>
            <a:endParaRPr lang="en-US" sz="750" dirty="0"/>
          </a:p>
        </p:txBody>
      </p:sp>
      <p:sp>
        <p:nvSpPr>
          <p:cNvPr id="1040" name="Text 13">
            <a:extLst>
              <a:ext uri="{FF2B5EF4-FFF2-40B4-BE49-F238E27FC236}">
                <a16:creationId xmlns:a16="http://schemas.microsoft.com/office/drawing/2014/main" id="{2022C557-9ED7-9B3B-1361-C3AE5DAA52E0}"/>
              </a:ext>
            </a:extLst>
          </p:cNvPr>
          <p:cNvSpPr/>
          <p:nvPr/>
        </p:nvSpPr>
        <p:spPr>
          <a:xfrm>
            <a:off x="8028287" y="4046220"/>
            <a:ext cx="88142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900"/>
              </a:lnSpc>
            </a:pPr>
            <a:r>
              <a:rPr lang="en-US" sz="713" dirty="0">
                <a:solidFill>
                  <a:srgbClr val="0F3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Documentation</a:t>
            </a:r>
            <a:endParaRPr lang="en-US" sz="713" dirty="0"/>
          </a:p>
          <a:p>
            <a:pPr algn="ctr">
              <a:lnSpc>
                <a:spcPts val="900"/>
              </a:lnSpc>
            </a:pPr>
            <a:r>
              <a:rPr lang="en-US" sz="713" dirty="0">
                <a:solidFill>
                  <a:srgbClr val="0F3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Demo Prep</a:t>
            </a:r>
            <a:endParaRPr lang="en-US" sz="713" dirty="0"/>
          </a:p>
        </p:txBody>
      </p:sp>
      <p:sp>
        <p:nvSpPr>
          <p:cNvPr id="1041" name="Legend swatch Done"/>
          <p:cNvSpPr/>
          <p:nvPr/>
        </p:nvSpPr>
        <p:spPr>
          <a:xfrm>
            <a:off x="900000" y="5150000"/>
            <a:ext cx="160000" cy="160000"/>
          </a:xfrm>
          <a:prstGeom prst="round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42" name="Legend label Done"/>
          <p:cNvSpPr/>
          <p:nvPr/>
        </p:nvSpPr>
        <p:spPr>
          <a:xfrm>
            <a:off x="1120000" y="5110000"/>
            <a:ext cx="1150000" cy="2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000">
                <a:solidFill>
                  <a:srgbClr val="0F3060"/>
                </a:solidFill>
                <a:latin typeface="Arial"/>
              </a:rPr>
              <a:t>Done</a:t>
            </a:r>
          </a:p>
        </p:txBody>
      </p:sp>
      <p:sp>
        <p:nvSpPr>
          <p:cNvPr id="1043" name="Legend swatch On Track"/>
          <p:cNvSpPr/>
          <p:nvPr/>
        </p:nvSpPr>
        <p:spPr>
          <a:xfrm>
            <a:off x="2550000" y="5150000"/>
            <a:ext cx="160000" cy="160000"/>
          </a:xfrm>
          <a:prstGeom prst="roundRect">
            <a:avLst/>
          </a:prstGeom>
          <a:solidFill>
            <a:srgbClr val="C98A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44" name="Legend label On Track"/>
          <p:cNvSpPr/>
          <p:nvPr/>
        </p:nvSpPr>
        <p:spPr>
          <a:xfrm>
            <a:off x="2770000" y="5110000"/>
            <a:ext cx="1150000" cy="2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000">
                <a:solidFill>
                  <a:srgbClr val="0F3060"/>
                </a:solidFill>
                <a:latin typeface="Arial"/>
              </a:rPr>
              <a:t>On Track</a:t>
            </a:r>
          </a:p>
        </p:txBody>
      </p:sp>
      <p:sp>
        <p:nvSpPr>
          <p:cNvPr id="1045" name="Legend swatch At Risk"/>
          <p:cNvSpPr/>
          <p:nvPr/>
        </p:nvSpPr>
        <p:spPr>
          <a:xfrm>
            <a:off x="4200000" y="5150000"/>
            <a:ext cx="160000" cy="160000"/>
          </a:xfrm>
          <a:prstGeom prst="round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46" name="Legend label At Risk"/>
          <p:cNvSpPr/>
          <p:nvPr/>
        </p:nvSpPr>
        <p:spPr>
          <a:xfrm>
            <a:off x="4420000" y="5110000"/>
            <a:ext cx="1150000" cy="2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000">
                <a:solidFill>
                  <a:srgbClr val="0F3060"/>
                </a:solidFill>
                <a:latin typeface="Arial"/>
              </a:rPr>
              <a:t>At Risk</a:t>
            </a:r>
          </a:p>
        </p:txBody>
      </p:sp>
      <p:sp>
        <p:nvSpPr>
          <p:cNvPr id="1047" name="Legend swatch Upcoming"/>
          <p:cNvSpPr/>
          <p:nvPr/>
        </p:nvSpPr>
        <p:spPr>
          <a:xfrm>
            <a:off x="5850000" y="5150000"/>
            <a:ext cx="160000" cy="160000"/>
          </a:xfrm>
          <a:prstGeom prst="roundRect">
            <a:avLst/>
          </a:prstGeom>
          <a:solidFill>
            <a:srgbClr val="9AA5B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48" name="Legend label Upcoming"/>
          <p:cNvSpPr/>
          <p:nvPr/>
        </p:nvSpPr>
        <p:spPr>
          <a:xfrm>
            <a:off x="6070000" y="5110000"/>
            <a:ext cx="1150000" cy="24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000">
                <a:solidFill>
                  <a:srgbClr val="0F3060"/>
                </a:solidFill>
                <a:latin typeface="Arial"/>
              </a:rPr>
              <a:t>Upcoming</a:t>
            </a:r>
          </a:p>
        </p:txBody>
      </p:sp>
      <p:sp>
        <p:nvSpPr>
          <p:cNvPr id="1049" name="Timeline note"/>
          <p:cNvSpPr/>
          <p:nvPr/>
        </p:nvSpPr>
        <p:spPr>
          <a:xfrm>
            <a:off x="900000" y="5470000"/>
            <a:ext cx="7300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950" i="1">
                <a:solidFill>
                  <a:srgbClr val="5B6472"/>
                </a:solidFill>
                <a:latin typeface="Arial"/>
              </a:rPr>
              <a:t>Status as of this review: all five modules are implemented, integrated and tested; final documentation and demo preparation are in progress.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>
                <a:latin typeface="Times New Roman"/>
                <a:ea typeface="Times New Roman"/>
                <a:cs typeface="Times New Roman"/>
                <a:sym typeface="Times New Roman"/>
              </a:rPr>
              <a:t>Key Risks and Next Steps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2E034A-E7F7-6D4E-F054-B080EAB1F8F7}"/>
              </a:ext>
            </a:extLst>
          </p:cNvPr>
          <p:cNvSpPr txBox="1"/>
          <p:nvPr/>
        </p:nvSpPr>
        <p:spPr>
          <a:xfrm>
            <a:off x="4652013" y="2057400"/>
            <a:ext cx="4591664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900"/>
              </a:spcAft>
              <a:buSzPct val="100000"/>
              <a:buChar char="▪"/>
            </a:pPr>
            <a:r>
              <a:rPr lang="en-IN" dirty="0" sz="1200">
                <a:latin typeface="Times New Roman" panose="02020603050405020304" pitchFamily="18" charset="0"/>
                <a:cs typeface="Times New Roman" panose="02020603050405020304" pitchFamily="18" charset="0"/>
              </a:rPr>
              <a:t>Agentic mock-interview mode with multi-turn follow-up questions</a:t>
            </a:r>
          </a:p>
          <a:p>
            <a:pPr marL="171450" indent="-171450">
              <a:spcAft>
                <a:spcPts val="900"/>
              </a:spcAft>
              <a:buSzPct val="100000"/>
              <a:buChar char="▪"/>
            </a:pPr>
            <a:r>
              <a:rPr lang="en-IN" dirty="0" sz="1200">
                <a:latin typeface="Times New Roman" panose="02020603050405020304" pitchFamily="18" charset="0"/>
                <a:cs typeface="Times New Roman" panose="02020603050405020304" pitchFamily="18" charset="0"/>
              </a:rPr>
              <a:t>Voice answers with speech-to-text for interview practice</a:t>
            </a:r>
          </a:p>
          <a:p>
            <a:pPr marL="171450" indent="-171450">
              <a:spcAft>
                <a:spcPts val="900"/>
              </a:spcAft>
              <a:buSzPct val="100000"/>
              <a:buChar char="▪"/>
            </a:pPr>
            <a:r>
              <a:rPr lang="en-IN" dirty="0" sz="1200">
                <a:latin typeface="Times New Roman" panose="02020603050405020304" pitchFamily="18" charset="0"/>
                <a:cs typeface="Times New Roman" panose="02020603050405020304" pitchFamily="18" charset="0"/>
              </a:rPr>
              <a:t>More languages in the DSA sandbox (Java, C++)</a:t>
            </a:r>
          </a:p>
          <a:p>
            <a:pPr marL="171450" indent="-171450">
              <a:spcAft>
                <a:spcPts val="900"/>
              </a:spcAft>
              <a:buSzPct val="100000"/>
              <a:buChar char="▪"/>
            </a:pPr>
            <a:r>
              <a:rPr lang="en-IN" dirty="0" sz="1200">
                <a:latin typeface="Times New Roman" panose="02020603050405020304" pitchFamily="18" charset="0"/>
                <a:cs typeface="Times New Roman" panose="02020603050405020304" pitchFamily="18" charset="0"/>
              </a:rPr>
              <a:t>Learning resources linked to each weak topic</a:t>
            </a:r>
          </a:p>
          <a:p>
            <a:pPr marL="171450" indent="-171450">
              <a:spcAft>
                <a:spcPts val="900"/>
              </a:spcAft>
              <a:buSzPct val="100000"/>
              <a:buChar char="▪"/>
            </a:pPr>
            <a:r>
              <a:rPr lang="en-IN" dirty="0" sz="1200"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 behind HTTPS with shared rate limits</a:t>
            </a:r>
          </a:p>
          <a:p>
            <a:pPr marL="171450" indent="-171450">
              <a:spcAft>
                <a:spcPts val="900"/>
              </a:spcAft>
              <a:buSzPct val="100000"/>
              <a:buChar char="▪"/>
            </a:pPr>
            <a:r>
              <a:rPr lang="en-IN" dirty="0" sz="1200">
                <a:latin typeface="Times New Roman" panose="02020603050405020304" pitchFamily="18" charset="0"/>
                <a:cs typeface="Times New Roman" panose="02020603050405020304" pitchFamily="18" charset="0"/>
              </a:rPr>
              <a:t>User study with students to measure preparation outcomes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E3CBADF0-A5B5-9EE1-AE62-19BE930E7D73}"/>
              </a:ext>
            </a:extLst>
          </p:cNvPr>
          <p:cNvSpPr/>
          <p:nvPr/>
        </p:nvSpPr>
        <p:spPr>
          <a:xfrm>
            <a:off x="480059" y="1627278"/>
            <a:ext cx="4011930" cy="3360420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IN" sz="105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118E9303-CCCC-90F5-3D90-7A06E866DC3B}"/>
              </a:ext>
            </a:extLst>
          </p:cNvPr>
          <p:cNvSpPr/>
          <p:nvPr/>
        </p:nvSpPr>
        <p:spPr>
          <a:xfrm>
            <a:off x="574356" y="2223383"/>
            <a:ext cx="382333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900"/>
              </a:spcAft>
            </a:pPr>
            <a:r>
              <a:rPr lang="en-US" dirty="0" sz="1200">
                <a:solidFill>
                  <a:schemeClr val="tx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LLM availability and cost → validated question-bank fallback and per-user daily AI limits.</a:t>
            </a:r>
            <a:endParaRPr lang="en-US" dirty="0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900"/>
              </a:spcAft>
            </a:pPr>
            <a:r>
              <a:rPr lang="en-US" dirty="0" sz="1200">
                <a:solidFill>
                  <a:schemeClr val="tx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AI grading inconsistency → blended with a deterministic rubric and validated on labelled answers.</a:t>
            </a:r>
            <a:endParaRPr lang="en-US" dirty="0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900"/>
              </a:spcAft>
            </a:pPr>
            <a:r>
              <a:rPr lang="en-US" dirty="0" sz="1200">
                <a:solidFill>
                  <a:schemeClr val="tx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Untrusted resumes and code → sandboxed parser and Docker code runner.</a:t>
            </a:r>
            <a:endParaRPr lang="en-US" dirty="0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900"/>
              </a:spcAft>
            </a:pPr>
            <a:r>
              <a:rPr lang="en-US" dirty="0" sz="1200">
                <a:solidFill>
                  <a:schemeClr val="tx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Database or network outages → clear startup errors and an optional local SQLite fallback.</a:t>
            </a:r>
            <a:endParaRPr lang="en-US" dirty="0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2683FB99-8064-636E-0885-AA49C68C336E}"/>
              </a:ext>
            </a:extLst>
          </p:cNvPr>
          <p:cNvSpPr/>
          <p:nvPr/>
        </p:nvSpPr>
        <p:spPr>
          <a:xfrm>
            <a:off x="574357" y="17830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b="1" dirty="0">
                <a:solidFill>
                  <a:srgbClr val="1640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Risks and Mitigations</a:t>
            </a:r>
            <a:endParaRPr lang="en-US" sz="1275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6A2A8DB2-263D-02F4-9495-EE7F914F6197}"/>
              </a:ext>
            </a:extLst>
          </p:cNvPr>
          <p:cNvSpPr/>
          <p:nvPr/>
        </p:nvSpPr>
        <p:spPr>
          <a:xfrm>
            <a:off x="4772212" y="168869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b="1" dirty="0">
                <a:solidFill>
                  <a:srgbClr val="1640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12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</p:txBody>
      </p:sp>
      <p:sp>
        <p:nvSpPr>
          <p:cNvPr id="124" name="Google Shape;124;p3"/>
          <p:cNvSpPr txBox="1">
            <a:spLocks noGrp="1"/>
          </p:cNvSpPr>
          <p:nvPr>
            <p:ph type="body" idx="1"/>
          </p:nvPr>
        </p:nvSpPr>
        <p:spPr>
          <a:xfrm>
            <a:off x="155850" y="1356867"/>
            <a:ext cx="8762008" cy="475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Prepwise turns a student's own resume into a personalised preparation plan: interview, technical and coding practice in one place.</a:t>
            </a:r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evaluation engine scores answers fairly, accepting the student's own wording, and explains exactly what to improve.</a:t>
            </a:r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Skill-gap analytics make weak areas visible and link directly to targeted practice.</a:t>
            </a:r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five modules are implemented, integrated and validated with measurable results (94.7% scoring accuracy, 100% code-judge accuracy).</a:t>
            </a:r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has been security-audited and hardened, ready for real student use.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"/>
          <p:cNvSpPr txBox="1">
            <a:spLocks noGrp="1"/>
          </p:cNvSpPr>
          <p:nvPr>
            <p:ph type="title"/>
          </p:nvPr>
        </p:nvSpPr>
        <p:spPr>
          <a:xfrm>
            <a:off x="311700" y="647062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8"/>
          <p:cNvSpPr txBox="1">
            <a:spLocks noGrp="1"/>
          </p:cNvSpPr>
          <p:nvPr>
            <p:ph type="body" idx="1"/>
          </p:nvPr>
        </p:nvSpPr>
        <p:spPr>
          <a:xfrm>
            <a:off x="311700" y="1536976"/>
            <a:ext cx="8403675" cy="4212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250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2500">
              <a:latin typeface="Book Antiqua"/>
              <a:ea typeface="Book Antiqua"/>
              <a:cs typeface="Book Antiqua"/>
              <a:sym typeface="Book Antiqua"/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2500">
              <a:latin typeface="Book Antiqua"/>
              <a:ea typeface="Book Antiqua"/>
              <a:cs typeface="Book Antiqua"/>
              <a:sym typeface="Book Antiqua"/>
            </a:endParaRPr>
          </a:p>
          <a:p>
            <a:pPr marL="889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25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80" name="Google Shape;180;p8"/>
          <p:cNvSpPr txBox="1"/>
          <p:nvPr/>
        </p:nvSpPr>
        <p:spPr>
          <a:xfrm>
            <a:off x="311700" y="1540423"/>
            <a:ext cx="8403675" cy="4545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[1] "AI Evaluation and Matching System for Automatic Text Recognition, Feature Information Extraction and Resume Based on Artificial Intelligence," IEEE, 2024.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[2] "A RAG-Based Personal Placement Assistant System Using Large Language Models for Customized Interview Preparation," IEEE, 2024.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[3] "AI-Powered Interview Preparation System: Integrating Resume Analysis, HR Simulation, and Technical Skill Assessment," SSRN, 2025.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[4] "AI-Powered Resume Analyzer and Interview Preparation System," IJRASET, 2025.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[5] "Artificial Intelligence in Career Counseling: A Test Case with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ResumAI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,"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arXiv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, 2023.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[6] "AI Hiring with LLMs: A Context-Aware and Explainable Multi-Agent Framework for Resume Screening,"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arXiv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, 2025.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[7] "Adaptive LLM-Based Tutoring System for Coding Interview Preparation and Automated Code Evaluation," 2025.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[8] "Layout-Aware Parsing Meets Efficient LLMs: A Unified Framework for Resume Information Extraction and Evaluation,"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arXiv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, 2025.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[9] "AI-Based Resume Analyzer and Interview Simulator," 2025.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[10] "AI-Driven Resume Parsing and Automated Interview Question Generation Using NLP," 2025.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2126</Words>
  <Application>Microsoft Office PowerPoint</Application>
  <PresentationFormat>On-screen Show (4:3)</PresentationFormat>
  <Paragraphs>240</Paragraphs>
  <Slides>19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Times New Roman</vt:lpstr>
      <vt:lpstr>Archivo Narrow</vt:lpstr>
      <vt:lpstr>Georgia</vt:lpstr>
      <vt:lpstr>Book Antiqua</vt:lpstr>
      <vt:lpstr>Simple Light</vt:lpstr>
      <vt:lpstr>An Intelligent AI-Based System for Personalized Placement Preparation and Skill Gap Analysis</vt:lpstr>
      <vt:lpstr>Agenda</vt:lpstr>
      <vt:lpstr>Abstract</vt:lpstr>
      <vt:lpstr>Problem Statement and Objectives</vt:lpstr>
      <vt:lpstr>System Architecture</vt:lpstr>
      <vt:lpstr>Literature Review / Background Study</vt:lpstr>
      <vt:lpstr>Literature Review / Background Study</vt:lpstr>
      <vt:lpstr>Literature Review / Background Study</vt:lpstr>
      <vt:lpstr>Literature Review / Background Study</vt:lpstr>
      <vt:lpstr>Literature Review / Background Study</vt:lpstr>
      <vt:lpstr>Hardware and Software Requirements</vt:lpstr>
      <vt:lpstr>Key Technical Implementation</vt:lpstr>
      <vt:lpstr>FlowChart</vt:lpstr>
      <vt:lpstr>Module Implementation Status</vt:lpstr>
      <vt:lpstr>Product Walkthrough</vt:lpstr>
      <vt:lpstr>Dashboard Overview</vt:lpstr>
      <vt:lpstr>Dashboard Overview</vt:lpstr>
      <vt:lpstr>Timeline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Bijeesh</dc:creator>
  <cp:lastModifiedBy>Aiswarya KV</cp:lastModifiedBy>
  <cp:revision>6</cp:revision>
  <dcterms:modified xsi:type="dcterms:W3CDTF">2026-09-25T08:47:37Z</dcterms:modified>
</cp:coreProperties>
</file>